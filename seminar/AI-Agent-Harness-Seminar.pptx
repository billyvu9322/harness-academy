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ĐẦU (0:00–0:30). Một câu hook: 'Model giỏi mà fail trong repo này, thành công repo khác — vấn đề không phải model, vấn đề là HARNESS.' Giới thiệu: hôm nay đi qua 6 trụ cột của harness engineering rồi demo 2 harness thật được build bằng Claude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(0:30–1:00). Theo nhịp ~3 phút mỗi chủ đề lý thuyết = 18', demo 8', mở/đóng 4'. Nhấn: lý thuyết xong sẽ thấy ngay trong demo — không phải slideware.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THROUGHLINE (1:00–2:00). Mọi thứ hôm nay không phải lý thuyết suông — ba artifact này nằm trong cùng một repo và đều được build bằng Claude Code. Hai cái sau là demo cuối buổi. Claude Code BẢN THÂN nó là một harness: đọc CLAUDE.md/AGENTS.md, có tool file/shell/test, skills, subagents, hooks, MCP — chạy trong repo thật nên artifact thành system of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mục. Câu chốt: model là động cơ; harness là khung gầm + vô-lăng + phanh + đồng hồ.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(2:00–5:00). ĐỊNH NGHĨA: harness engineering = kỷ luật thiết kế/kiểm thử/cải thiện hệ thống điều khiển quanh LLM. Năm subsystem là khung phân tích: khi agent fail, hỏi tầng nào hỏng — thiếu context? thiếu tool? environment lệch? mất state? thiếu feedback?  VÍ DỤ: 'Add GET /users/:id'. Không harness: model viết → claim done → bạn chạy test → fail → lặp. Có harness: skill load schema+routes → plan (route→handler→test→migration) → hook PostToolUse chạy test ngay → verification skill check pass → hook SessionEnd dọn tmp + gợi ý commit. Kết quả: code chạy + bằng chứng + git sạch. Chốt: Claude Code đã là harness sẵn — phần còn lại của buổi là cách vận hành nó có kỷ luật.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mục. Ẩn dụ: context window = bàn làm việc nhỏ. Bày hết hồ sơ lên bàn = không còn chỗ tư duy.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(5:00–8:00). Ba chiến lược: (1) progressive disclosure — 3 lớp: metadata mỗi turn ~50 tok, full body khi relevant, bundled file on-demand. (2) repo as system of record — plan file + commit + PR description sống sót qua reset; todo list chỉ giúp session hiện tại. (3) compaction-aware — harness tự nén history khi gần đầy, nên ghi state ra repo ở mỗi checkpoint; reset xong agent đọc plan file là bắt nhịp lại. CON SỐ ĐẮT GIÁ: CLAUDE.md 5000 dòng tốn ~1M token chỉ cho instruction qua 50 lượt chat. OPEN ISSUE để thảo luận: chưa có cơ chế chuẩn để agent tự đo 'context sắp đầy / load không tối ưu' và tự 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mục. Ẩn dụ: orchestrator = nhạc trưởng giữ tổng phổ; sub-agent = nhạc công trả về 'đoạn đã chơi', không trả cả bản nhạc thô.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(8:00–11:00). Orchestration là lớp control plane quản query loop: quyết input nào hợp lệ, tool nào chạy song song vs tuần tự, khi nào xin phép, khôi phục lỗi ra sao. PATTERN orchestrator/sub-agent: orchestrator dispatch Researcher (đọc 50 file → summary 200 từ) + Implementer (code → diff) + Verifier (test → pass/fail); orchestrator KHÔNG ôm 50 file raw, chỉ giữ summary. Demo Assistant sẽ cho thấy loop này chạy thật: timeline hiện từng tool call. OPEN ISSUE: khi nào sub-agent nên tự regenerate vs chỉ trả summary lỗi cho orchestrator xử lý — ảnh hưởng token &amp;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mục. Guardrail nằm ở control plane (harness), KHÔNG ở model weights. Khác permission: permission = tool nào có; guardrail = hành vi nào bị chặn.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(11:00–14:00). Guardrail = pattern chặn overreach / under-finish / silent error. Đối phó self-evaluation bias bằng external evaluator hoặc verification skill riêng (agent tự chấm thì thiên vị). Risk lane intake: Tiny (docs) / Normal (story + approval) / High-risk (auth, data model, migration) — context và bằng chứng scale theo lane. Demo Template sẽ cho thấy 'never weaken assertions / no arbitrary sleep / no skip without blocker' được codify thành REVIEW_CHECKLIST, không phải lời khuyên. OPEN ISSUE: protocol escalation khi high-risk scenario cần đổi schema giữa chừng (planner→generator→evaluator) chưa được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mục. AGENTS.md không phải encyclopedia, nó là mục lục (table of contents) trỏ tới docs/skills.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(14:00–17:00). Đây là tầng instruction của harness. KEY: feature list là primitive — đơn vị nhỏ nhất của intent mà vẫn verify được; không có nó thì 'done' vô nghĩa. Init phase tách riêng vì nó deterministic: đọc file/command, làm rõ scope, tiết kiệm token — bỏ init = agent lao vào làm sai convention. Skill anatomy: frontmatter description chính là trigger signal load vào system prompt mỗi turn, phải ngắn mà rõ. OPEN ISSUE: context hand-off giữa planner→generator→evaluator — spec do planner viết nên đi vào context của generator hay lưu riêng?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mục. Câu chốt: bạn không 'tin' agent đúng — bạn ĐO nó đúng. Eval = test suite cho agent; observability = hộp đen chuyến bay.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(17:00–20:00). Hai trụ: EVAL (chủ động) + OBSERVABILITY (bị động ghi nhận). Eval B7 chạy 6 câu golden, kết hợp LLM-judge (rubric 0–5) + deterministic checks (có citation? đúng doc? đủ keyword?). Citations provenance-based là bất biến cốt lõi: chỉ section được read_doc_section mới được cite — model không thể bịa nguồn. Mode gating (B8): blueprint tool chỉ gọi được trong harness-design mode → verify guardrail thực thi. OPEN ISSUE hay để thảo luận: feedback loop tự động trace → phát hiện pattern lỗi lặp → tự đề xuất sửa docs/schema/test vẫn chưa có; hiện vẫn là con người đọc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DEMO (20:00). Nhắc khán giả: mọi nguyên tắc vừa nói — grounding, timeline, guardrail, checklist, JSONL trace — sắp thấy chạy thật. Mở sẵn terminal + browser trước khi bấm slide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1 (20:00–24:30, ~4.5'). KHÔNG đi vào kỹ thuật — dùng sơ đồ để giải thích KIẾN TRÚC harness của Assistant, rồi cho chạy thật minh hoạ. Đọc sơ đồ trái→phải: (1) người dùng hỏi (trong academy hoặc widget). (2) GUARDRAIL VÀO chặn câu off-corpus hoặc injection ngay từ đầu. (3) ORCHESTRATOR giữ mục tiêu, điều phối từng bước — không tự bịa. (4) TRA CỨU TÀI LIỆU: agent chỉ được tìm + đọc trong corpus nội bộ, không ra internet. (5) TRẢ LỜI kèm CITATION; guardrail ra bắt buộc phải có dẫn nguồn, nếu không thì làm lại. BĂNG DƯỚI = xuyên suốt: State (Postgres lưu hội thoại/feedback để resume) + Observability (mỗi lượt ghi trace: đọc tài liệu nào, mấy bước, độ trễ). CHỐT: đây chính là 5 trụ cột vừa nói — guardrail, orchestration, context/corpus, state, observability — ghép lại thành 1 hệ. Chạy live: hỏi 1 câu, chỉ cho khán giả thấy câu trả lời + citation truy về academy.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2 (24:30–28:30, ~4'). KHÔNG technical — dùng sơ đồ để chỉ CẤU TRÚC: harness áp các thành phần vào automation test ra sao. Mỗi cột = 1 phase (hàng trên) + thành phần harness điều khiển nó (hộp tối dưới). (1) INTAKE → STATE: mọi yêu cầu ghi vào records.jsonl, phân risk lane. 'Harness bắt đầu bằng intake, không phải code.' (2) CONTEXT → INSTRUCTION: CONTEXT_RULES.md route đúng tài liệu theo phase (Normal lane = product docs + approved spec + fixtures, không phải cả repo). (3) GENERATE → TOOL POLICY: subagent test-generator bị giới hạn tool, no shell, stop condition = chỉ sinh code từ scenario đã duyệt = safe autonomy. (4) REVIEW → GUARDRAIL: REVIEW_CHECKLIST.md codify 'no arbitrary sleep / no weakened assertion / no skip' thành gate có TÊN để reviewer từ chối. (5) RUN &amp; TRACE → FEEDBACK: chạy Playwright, trace .zip, ghi outcome; lỗi lặp ⇒ harness issue (sửa CONTEXT_RULES/skill) vs test issue (test-healer). CHỐT: cùng 5 trụ cột của Assistant, nhưng đóng gói thành FILE trong repo — đó là 'repo as system of record'. Có thể mở nhanh records.jsonl + REVIEW_CHECKLIST.md cho khán giả thấy file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ISSUES (28:30–29:15). Đây là phần tạo thảo luận — sáu câu hỏi thật chưa có đáp án trong repo. Mời khán giả chọn 1–2 cái họ quan tâm để đào sâu, hoặc dùng làm backlog cho harness tiếp theo.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TAKEAWAYS (29:15–29:45). Năm câu mang về. Nhấn câu cuối: công cụ đã có, khác biệt nằm ở kỷ luật vận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(29:45–30:00+). Dẫn lại Open Issues nếu khán giả im. Để slide tài liệu mở để mọi người chụp.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822960" cy="8229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481328"/>
            <a:ext cx="7863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JetBrains Mono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1732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D7220"/>
                </a:solidFill>
                <a:latin typeface="Inter"/>
              </a:rPr>
              <a:t>HARNESS ACADEMY  ·  SEMINAR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Inter"/>
              </a:rPr>
              <a:t>AI Agent Harness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0">
                <a:solidFill>
                  <a:srgbClr val="E2E8F0"/>
                </a:solidFill>
                <a:latin typeface="Inter"/>
              </a:rPr>
              <a:t>Architecture, Operations &amp; Building Agents with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D7220"/>
                </a:solidFill>
                <a:latin typeface="JetBrains Mono"/>
              </a:rPr>
              <a:t>30 phút  ·  6 chủ đề lý thuyết  +  2 live demo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JetBrains Mono"/>
              </a:rPr>
              <a:t>Assistant Harness Academy   ·   Harness Template: Automation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Agenda — 30 phút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Sáu trụ cột của harness, rồi thấy chúng chạy thật trong hai demo.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77440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What Is Harness Engineering?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237744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4748B"/>
                </a:solidFill>
                <a:latin typeface="JetBrains Mono"/>
              </a:rPr>
              <a:t>~3'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44368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4436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Context Engineering: The Working Memory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944368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4748B"/>
                </a:solidFill>
                <a:latin typeface="JetBrains Mono"/>
              </a:rPr>
              <a:t>~3'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11296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112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11296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511296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4748B"/>
                </a:solidFill>
                <a:latin typeface="JetBrains Mono"/>
              </a:rPr>
              <a:t>~3'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78224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7822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78224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Constraints, Guardrails &amp; Safe Autonomy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4078224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4748B"/>
                </a:solidFill>
                <a:latin typeface="JetBrains Mono"/>
              </a:rPr>
              <a:t>~3'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45152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4515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45152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Specs, Agent Files &amp; Workflow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4645152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4748B"/>
                </a:solidFill>
                <a:latin typeface="JetBrains Mono"/>
              </a:rPr>
              <a:t>~3'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212080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Evals &amp; 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521208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4748B"/>
                </a:solidFill>
                <a:latin typeface="JetBrains Mono"/>
              </a:rPr>
              <a:t>~3'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779008"/>
            <a:ext cx="50292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77900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JetBrains Mono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779008"/>
            <a:ext cx="8778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293B"/>
                </a:solidFill>
                <a:latin typeface="Inter"/>
              </a:rPr>
              <a:t>Demo: Assistant Harness Academy  +  Harness Template (Automation Test)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5779008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4748B"/>
                </a:solidFill>
                <a:latin typeface="JetBrains Mono"/>
              </a:rPr>
              <a:t>~8'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Built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Ba artifact thật trong repo này — đều là harness, đều build bằng Claude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3520440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520440" cy="109728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D7220"/>
                </a:solidFill>
                <a:latin typeface="JetBrains Mono"/>
              </a:rPr>
              <a:t>academy/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Tài liệu Harness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Inter"/>
              </a:rPr>
              <a:t>Vite + React. 16 lectures + skills. Nguồn corpus cho Assistant.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2468880"/>
            <a:ext cx="3520440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2468880"/>
            <a:ext cx="3520440" cy="109728"/>
          </a:xfrm>
          <a:prstGeom prst="rect">
            <a:avLst/>
          </a:prstGeom>
          <a:solidFill>
            <a:srgbClr val="DE5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6974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E5916"/>
                </a:solidFill>
                <a:latin typeface="JetBrains Mono"/>
              </a:rPr>
              <a:t>assistant/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2004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Assistant Harness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411480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Inter"/>
              </a:rPr>
              <a:t>Single-orchestrator agent: grounded Q&amp;A, citations, SSE, eval. Embed widget vào academy.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2468880"/>
            <a:ext cx="3520440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2468880"/>
            <a:ext cx="3520440" cy="109728"/>
          </a:xfrm>
          <a:prstGeom prst="rect">
            <a:avLst/>
          </a:prstGeom>
          <a:solidFill>
            <a:srgbClr val="B84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6974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84314"/>
                </a:solidFill>
                <a:latin typeface="JetBrains Mono"/>
              </a:rPr>
              <a:t>templates/…-test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2004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Inter"/>
              </a:rPr>
              <a:t>Harness Template: Automation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411480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Inter"/>
              </a:rPr>
              <a:t>Playwright harness: intake → approve → generate → trace. Kỷ luật test bằng AI.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Source: </a:t>
            </a:r>
            <a:r>
              <a:rPr sz="1000" b="0">
                <a:solidFill>
                  <a:srgbClr val="64748B"/>
                </a:solidFill>
                <a:latin typeface="JetBrains Mono"/>
              </a:rPr>
              <a:t>academy/  ·  assistant/AGENTS.md  ·  templates/automation-test-harness-experimental/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What Is Harness
Engineering?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Model cung cấp reasoning. Harness cung cấp kỷ luật.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What Is Harness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Nếu model giỏi fail repo này nhưng thành công repo khác — vấn đề là harness, không phải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Kỷ luật thiết kế / test / cải thiện hệ thống điều khiển quanh LLM.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5 subsystem: instruction · tool · environment · state · feedback.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Lỗi agent = behavior gap, không phải reasoning: mất context, overreach, claim done sớm, dirty state, no observability.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Control plane (intent, approval, trace, recovery) vs execution plane (file/shell risky work).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Repo là system of record: decision/plan/state/trace commit vào file, không sống trong chat.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D7220"/>
                </a:solidFill>
                <a:latin typeface="JetBrains Mono"/>
              </a:rPr>
              <a:t>5-SUBSYSTEM HARNESS MODEL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instruction →  AGENTS.md + docs/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tool        →  Read/Edit/Bash + MCP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environment →  runtime pin + lockfile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state       →  repo artifact + PROGRESS.md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feedback    →  test + lint + e2e + logs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/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quality = task done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      + trajectory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Source: </a:t>
            </a:r>
            <a:r>
              <a:rPr sz="1000" b="0">
                <a:solidFill>
                  <a:srgbClr val="64748B"/>
                </a:solidFill>
                <a:latin typeface="JetBrains Mono"/>
              </a:rPr>
              <a:t>AI-Agent-Harness.md §2,§4,§8  ·  academy/content/lectures/02-harness-la-gi.md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Context Engineering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The Working Memory Budget — context window là tài nguyên hữu hạn.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Context Engineering: Working Memory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Quản lý ngân sách context để agent không mất quyết định khi compaction.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Progressive disclosure: load context theo phase + risk lane, không maximize.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Risk lane: Tiny ~2K · Normal ~5K · High-risk ~10K token harness context.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Repo là system of record: plan file + commit + PR description = state qua nhiều session.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Compaction-aware: chat history KHÔNG survive reset → mọi decision phải lưu ngoài context window.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50" b="1">
                <a:solidFill>
                  <a:srgbClr val="DE5916"/>
                </a:solidFill>
                <a:latin typeface="Inter"/>
              </a:rPr>
              <a:t>—  </a:t>
            </a:r>
            <a:r>
              <a:rPr sz="1650">
                <a:solidFill>
                  <a:srgbClr val="1E293B"/>
                </a:solidFill>
                <a:latin typeface="Inter"/>
              </a:rPr>
              <a:t>Skills load theo description match — chỉ activate khi relevant, không phí token.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D7220"/>
                </a:solidFill>
                <a:latin typeface="JetBrains Mono"/>
              </a:rPr>
              <a:t>MONO vs PROGRESSIVE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# monolithic CLAUDE.md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5000 dòng ≈ 20K tok / message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× 50 message ≈ 1,000,000 tok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        (chỉ riêng instruction!)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/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# progressive disclosure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index   &lt; 100 dòng  (~100 tok)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skill   &lt; 200 dòng  (load khi cần)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plan    &lt; 300 dòng  (on-demand)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→ ~90% waste cắt bỏ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Source: </a:t>
            </a:r>
            <a:r>
              <a:rPr sz="1000" b="0">
                <a:solidFill>
                  <a:srgbClr val="64748B"/>
                </a:solidFill>
                <a:latin typeface="JetBrains Mono"/>
              </a:rPr>
              <a:t>AI-Agent-Harness.md L672  ·  lectures/03,04,05,12  ·  skills/01-skill-anatomy.md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Orchestration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Một agent ôm hết = context đầy, hallucinate. Tách orchestrator &amp; sub-agent.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Control plane điều phối query loop; execution plane chỉ chạy tool được phép.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Query loop 5 phần: nhận input → đọc stream → điều phối tool (xin phép, song song/tuần tự) → khôi phục lỗi → điều kiện dừng.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Orchestrator giữ {task, summaries, next}; sub-agent trả SUMMARY, không trả raw output.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Lợi: context isolation · parallel execution · specialization. Giới hạn: ≤3–5 agent, ≤5'/task, 1 mục tiêu/agent, ≤2 tầng.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Input guardrail bắt lỗi sớm; output guardrail yêu cầu grounding hoặc regenerate.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Tool policy: read/grep rộng; write/delete/deploy cần xin phép; log call → context.reads.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D7220"/>
                </a:solidFill>
                <a:latin typeface="JetBrains Mono"/>
              </a:rPr>
              <a:t>assistant: HarnessOrchestrator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Agent SDK loop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├─ checkInput()  guardrail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├─ tools: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│    list_docs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│    grep_docs   (VN+EN expand)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│    read_doc_section → reads[]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│    harness_blueprint (gated)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├─ mapStreamEvent → SSE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└─ buildCitations(context.reads)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Source: </a:t>
            </a:r>
            <a:r>
              <a:rPr sz="1000" b="0">
                <a:solidFill>
                  <a:srgbClr val="64748B"/>
                </a:solidFill>
                <a:latin typeface="JetBrains Mono"/>
              </a:rPr>
              <a:t>lectures/13,14  ·  assistant/apps/api/src/agent/harnessAssistant.ts  ·  AI-Agent-Harness.md §5.2,§6.4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Constraints, Guardrails
&amp; Safe Autonomy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Agent fail vì thiếu kỷ luật giữ scope, không vì thiếu reasoning.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Constraints, Guardrails &amp; Safe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Scope lock · finish gate · circuit breaker · error là main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Scope Lock: feature list khớp yêu cầu; explicit 'do NOT'; diff &gt;20 file cho bugfix = cờ đỏ.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Finish Gate: done = bằng chứng (test output, trace), KHÔNG phải lời hứa. DoD gồm typecheck/lint/test/e2e.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Error là first-class: 5 pattern (context overflow, truncation, tool interrupt, infinite hook, failed compaction).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Circuit breaker: same tool+input &gt;3 lần → block; hook depth &gt;5 → warn; retry limit theo loại lỗi.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Recovery minh bạch: { status, summary, artifacts, next_actions, recovery_hint } — không silent fix.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D7220"/>
                </a:solidFill>
                <a:latin typeface="JetBrains Mono"/>
              </a:rPr>
              <a:t>FINISH GATE (Definition of Done)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feature list: mọi item ☑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npm test        → all green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npm run typecheck → pass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npm run lint    → pass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diff == feature list?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□ evidence dán vào response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──────────────────────────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CHỈ KHI ĐỦ → claim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Source: </a:t>
            </a:r>
            <a:r>
              <a:rPr sz="1000" b="0">
                <a:solidFill>
                  <a:srgbClr val="64748B"/>
                </a:solidFill>
                <a:latin typeface="JetBrains Mono"/>
              </a:rPr>
              <a:t>lectures/07,15  ·  assistant/apps/api/src/agent/guardrails.ts  ·  AI-Agent-Harness.md §7.3,§7.4,§9.5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Specs, Agent Files
&amp; Workflow Design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Instruction &amp; context layer — load dần, không load cả bách khoa.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Specs, Agent Files &amp; Workflow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AGENTS.md là index, feature list là primitive, init phase đi trước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AGENTS.md / CLAUDE.md = index &lt;100 dòng: mục đích, stack version, 3–4 command, Definition of Done.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Feature list là primitive của intent: checkbox atomic, verifiable, concrete — thiếu nó thì không verify được.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Init phase bắt buộc trước action: đọc memory → git state → active plan → confirm scope với user.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Skill triggerability qua description: 'Use when schema change. Keywords: schema, migration, ALTER TABLE'.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 b="1">
                <a:solidFill>
                  <a:srgbClr val="DE5916"/>
                </a:solidFill>
                <a:latin typeface="Inter"/>
              </a:rPr>
              <a:t>—  </a:t>
            </a:r>
            <a:r>
              <a:rPr sz="1550">
                <a:solidFill>
                  <a:srgbClr val="1E293B"/>
                </a:solidFill>
                <a:latin typeface="Inter"/>
              </a:rPr>
              <a:t>Context routing theo phase: intake → planning → implementation →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D7220"/>
                </a:solidFill>
                <a:latin typeface="JetBrains Mono"/>
              </a:rPr>
              <a:t>PROGRESSIVE DISCLOSURE (3 tier)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tier 1  (mỗi turn)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index 100 tok + skill names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tier 2  (khi relevant)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SKILL.md body 200–1000 tok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tier 3  (on-demand)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script / reference / full doc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/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frontmatter: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description: Use when …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keywords: [schema, migration]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Source: </a:t>
            </a:r>
            <a:r>
              <a:rPr sz="1000" b="0">
                <a:solidFill>
                  <a:srgbClr val="64748B"/>
                </a:solidFill>
                <a:latin typeface="JetBrains Mono"/>
              </a:rPr>
              <a:t>lectures/04,06,08  ·  academy/content/skills/01-skill-anatomy.md  ·  AGENTS.md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D7220"/>
                </a:solidFill>
                <a:latin typeface="JetBrains Mon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Inter"/>
              </a:rPr>
              <a:t>Evals &amp; Observability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Agent tự tin ≠ bằng chứng. Dữ liệu là bằng chứng: traces, citations, evals.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Evals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Xác thực hành vi agent bằng bằng chứng và trace, không bằng dự đoán.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DE5916"/>
                </a:solidFill>
                <a:latin typeface="Inter"/>
              </a:rPr>
              <a:t>—  </a:t>
            </a:r>
            <a:r>
              <a:rPr sz="1500">
                <a:solidFill>
                  <a:srgbClr val="1E293B"/>
                </a:solidFill>
                <a:latin typeface="Inter"/>
              </a:rPr>
              <a:t>Evals = golden-question suite: chạy agent trên câu hỏi tiêu chuẩn, LLM-judge chấm 0–5 theo rubric.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DE5916"/>
                </a:solidFill>
                <a:latin typeface="Inter"/>
              </a:rPr>
              <a:t>—  </a:t>
            </a:r>
            <a:r>
              <a:rPr sz="1500">
                <a:solidFill>
                  <a:srgbClr val="1E293B"/>
                </a:solidFill>
                <a:latin typeface="Inter"/>
              </a:rPr>
              <a:t>Baseline merge gate: pass rate ≥70% &amp; avg score ≥3.5 — không đạt thì không merge.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DE5916"/>
                </a:solidFill>
                <a:latin typeface="Inter"/>
              </a:rPr>
              <a:t>—  </a:t>
            </a:r>
            <a:r>
              <a:rPr sz="1500">
                <a:solidFill>
                  <a:srgbClr val="1E293B"/>
                </a:solidFill>
                <a:latin typeface="Inter"/>
              </a:rPr>
              <a:t>Citations là provenance: buildCitations() chỉ trả section agent THỰC SỰ read — không fake được.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DE5916"/>
                </a:solidFill>
                <a:latin typeface="Inter"/>
              </a:rPr>
              <a:t>—  </a:t>
            </a:r>
            <a:r>
              <a:rPr sz="1500">
                <a:solidFill>
                  <a:srgbClr val="1E293B"/>
                </a:solidFill>
                <a:latin typeface="Inter"/>
              </a:rPr>
              <a:t>Output guardrail: bắt buộc ≥1 citation, hoặc nói rõ corpus không cover; fail → regenerate 1 lần.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00" b="1">
                <a:solidFill>
                  <a:srgbClr val="DE5916"/>
                </a:solidFill>
                <a:latin typeface="Inter"/>
              </a:rPr>
              <a:t>—  </a:t>
            </a:r>
            <a:r>
              <a:rPr sz="1500">
                <a:solidFill>
                  <a:srgbClr val="1E293B"/>
                </a:solidFill>
                <a:latin typeface="Inter"/>
              </a:rPr>
              <a:t>Trace summary = mini-eval: accessedDocs, toolCalls, citationCount, latency, status, regenerated → chấm trajectory.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286000"/>
            <a:ext cx="420624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" cy="356616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2414016"/>
            <a:ext cx="384048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ED7220"/>
                </a:solidFill>
                <a:latin typeface="JetBrains Mono"/>
              </a:rPr>
              <a:t>B7 EVAL GATE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for q in GOLDEN_QUESTIONS: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ans  = run(agent, q)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judge = llmJudge(ans, rubric) # 0–5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ok = judge.pass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   and hasCitation(ans)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   and matchesExpectedDoc(ans)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──────────────────────────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BASELINE = { passRate ≥ 0.70,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>
                <a:solidFill>
                  <a:srgbClr val="F1F5F9"/>
                </a:solidFill>
                <a:latin typeface="JetBrains Mono"/>
              </a:rPr>
              <a:t>             avgScore ≥ 3.5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Source: </a:t>
            </a:r>
            <a:r>
              <a:rPr sz="1000" b="0">
                <a:solidFill>
                  <a:srgbClr val="64748B"/>
                </a:solidFill>
                <a:latin typeface="JetBrains Mono"/>
              </a:rPr>
              <a:t>lectures/10,11  ·  assistant/apps/api/src/evals/{goldenQuestions,score,runEvals}.ts  ·  docs/citations.ts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2194560" cy="128016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5600" b="1">
                <a:solidFill>
                  <a:srgbClr val="FFFFFF"/>
                </a:solidFill>
                <a:latin typeface="Inter"/>
              </a:rPr>
              <a:t>LIVE DEMO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64748B"/>
                </a:solidFill>
                <a:latin typeface="Inter"/>
              </a:rPr>
              <a:t>Lý thuyết, giờ chạy thật — hai harness build bằng Claude Code.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Demo 1 — Assistant: kiến trúc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Câu hỏi đi qua các tầng harness để ra câu trả lời có dẫn nguồn.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1883664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1883664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624328"/>
            <a:ext cx="160934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D7220"/>
                </a:solidFill>
                <a:latin typeface="Inter"/>
              </a:rPr>
              <a:t>CÂU HỎI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Người dùng hỏi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475569"/>
                </a:solidFill>
                <a:latin typeface="Inter"/>
              </a:rPr>
              <a:t>trong academy / widget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42032" y="3145536"/>
            <a:ext cx="310896" cy="384048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98648" y="2423160"/>
            <a:ext cx="1883664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98648" y="2423160"/>
            <a:ext cx="1883664" cy="91440"/>
          </a:xfrm>
          <a:prstGeom prst="rect">
            <a:avLst/>
          </a:prstGeom>
          <a:solidFill>
            <a:srgbClr val="DE5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624328"/>
            <a:ext cx="160934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DE5916"/>
                </a:solidFill>
                <a:latin typeface="Inter"/>
              </a:rPr>
              <a:t>GUARDRAIL VÀO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Chặn từ sớm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475569"/>
                </a:solidFill>
                <a:latin typeface="Inter"/>
              </a:rPr>
              <a:t>off-corpus · injection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0600" y="3145536"/>
            <a:ext cx="310896" cy="384048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57216" y="2423160"/>
            <a:ext cx="1883664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57216" y="2423160"/>
            <a:ext cx="1883664" cy="91440"/>
          </a:xfrm>
          <a:prstGeom prst="rect">
            <a:avLst/>
          </a:prstGeom>
          <a:solidFill>
            <a:srgbClr val="B84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624328"/>
            <a:ext cx="160934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B84314"/>
                </a:solidFill>
                <a:latin typeface="Inter"/>
              </a:rPr>
              <a:t>ORCHESTRATOR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Giữ mục tiêu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475569"/>
                </a:solidFill>
                <a:latin typeface="Inter"/>
              </a:rPr>
              <a:t>điều phối từng bước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59168" y="3145536"/>
            <a:ext cx="310896" cy="384048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15783" y="2423160"/>
            <a:ext cx="1883664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15783" y="2423160"/>
            <a:ext cx="1883664" cy="91440"/>
          </a:xfrm>
          <a:prstGeom prst="rect">
            <a:avLst/>
          </a:prstGeom>
          <a:solidFill>
            <a:srgbClr val="DE5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7" y="2624328"/>
            <a:ext cx="160934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DE5916"/>
                </a:solidFill>
                <a:latin typeface="Inter"/>
              </a:rPr>
              <a:t>TRA CỨU TÀI LIỆU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Chỉ trong corpus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475569"/>
                </a:solidFill>
                <a:latin typeface="Inter"/>
              </a:rPr>
              <a:t>tìm → đọc đúng mục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17736" y="3145536"/>
            <a:ext cx="310896" cy="384048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74352" y="2423160"/>
            <a:ext cx="1883664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74352" y="2423160"/>
            <a:ext cx="1883664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0656" y="2624328"/>
            <a:ext cx="160934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D7220"/>
                </a:solidFill>
                <a:latin typeface="Inter"/>
              </a:rPr>
              <a:t>TRẢ LỜI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Kèm Citation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475569"/>
                </a:solidFill>
                <a:latin typeface="Inter"/>
              </a:rPr>
              <a:t>guardrail ra ép dẫn nguồn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E5916"/>
                </a:solidFill>
                <a:latin typeface="Inter"/>
              </a:rPr>
              <a:t>Xuyên suốt mọi lượt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937760"/>
            <a:ext cx="5349240" cy="1051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937760"/>
            <a:ext cx="91440" cy="105156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172A"/>
                </a:solidFill>
                <a:latin typeface="Inter"/>
              </a:rPr>
              <a:t>State &amp; lịch sử hội thoại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Inter"/>
              </a:rPr>
              <a:t>Postgres lưu hội thoại + feedback → resume qua session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4937760"/>
            <a:ext cx="5349240" cy="1051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8776" y="4937760"/>
            <a:ext cx="91440" cy="1051560"/>
          </a:xfrm>
          <a:prstGeom prst="rect">
            <a:avLst/>
          </a:prstGeom>
          <a:solidFill>
            <a:srgbClr val="762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5074920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172A"/>
                </a:solidFill>
                <a:latin typeface="Inter"/>
              </a:rPr>
              <a:t>Observability — trace mỗi lượt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75569"/>
                </a:solidFill>
                <a:latin typeface="Inter"/>
              </a:rPr>
              <a:t>ghi: tài liệu đã đọc · các bước · độ trễ · trạng thái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Source: </a:t>
            </a:r>
            <a:r>
              <a:rPr sz="1000" b="0">
                <a:solidFill>
                  <a:srgbClr val="64748B"/>
                </a:solidFill>
                <a:latin typeface="JetBrains Mono"/>
              </a:rPr>
              <a:t>assistant/AGENTS.md (Architecture &amp; Request Flow)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Demo 2 — Harness Template: cấu trúc áp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Mỗi phase do một thành phần harness điều khiển — file control-plane, không phải lời khuyên.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883664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883664" cy="914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532888"/>
            <a:ext cx="160934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475569"/>
                </a:solidFill>
                <a:latin typeface="Inter"/>
              </a:rPr>
              <a:t>1 · INTAKE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Phân risk lane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94760"/>
            <a:ext cx="1883664" cy="18745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94760"/>
            <a:ext cx="64008" cy="1874519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41064"/>
            <a:ext cx="157276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475569"/>
                </a:solidFill>
                <a:latin typeface="JetBrains Mono"/>
              </a:rPr>
              <a:t>STATE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JetBrains Mono"/>
              </a:rPr>
              <a:t>.harness/records.jsonl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Inter"/>
              </a:rPr>
              <a:t>ghi type · summary · lane · status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42032" y="2775203"/>
            <a:ext cx="310896" cy="347472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98648" y="2331720"/>
            <a:ext cx="1883664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8648" y="2331720"/>
            <a:ext cx="1883664" cy="914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2532888"/>
            <a:ext cx="160934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ED7220"/>
                </a:solidFill>
                <a:latin typeface="Inter"/>
              </a:rPr>
              <a:t>2 · CONTEXT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Load đúng tài liệu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8648" y="3794760"/>
            <a:ext cx="1883664" cy="18745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98648" y="3794760"/>
            <a:ext cx="64008" cy="1874519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1528" y="3941064"/>
            <a:ext cx="157276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ED7220"/>
                </a:solidFill>
                <a:latin typeface="JetBrains Mono"/>
              </a:rPr>
              <a:t>INSTRUCTION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JetBrains Mono"/>
              </a:rPr>
              <a:t>CONTEXT_RULES.md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Inter"/>
              </a:rPr>
              <a:t>Normal lane = docs + spec + fixtures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00600" y="2775203"/>
            <a:ext cx="310896" cy="347472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7216" y="2331720"/>
            <a:ext cx="1883664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2331720"/>
            <a:ext cx="1883664" cy="91440"/>
          </a:xfrm>
          <a:prstGeom prst="rect">
            <a:avLst/>
          </a:prstGeom>
          <a:solidFill>
            <a:srgbClr val="DE5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532888"/>
            <a:ext cx="160934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DE5916"/>
                </a:solidFill>
                <a:latin typeface="Inter"/>
              </a:rPr>
              <a:t>3 · GENERATE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Sinh test từ scenario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57216" y="3794760"/>
            <a:ext cx="1883664" cy="18745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57216" y="3794760"/>
            <a:ext cx="64008" cy="1874519"/>
          </a:xfrm>
          <a:prstGeom prst="rect">
            <a:avLst/>
          </a:prstGeom>
          <a:solidFill>
            <a:srgbClr val="DE5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0096" y="3941064"/>
            <a:ext cx="157276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TOOL POLICY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JetBrains Mono"/>
              </a:rPr>
              <a:t>subagent test-generator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Inter"/>
              </a:rPr>
              <a:t>no shell · stop = chỉ từ scenario approved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59168" y="2775203"/>
            <a:ext cx="310896" cy="347472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15783" y="2331720"/>
            <a:ext cx="1883664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15783" y="2331720"/>
            <a:ext cx="1883664" cy="91440"/>
          </a:xfrm>
          <a:prstGeom prst="rect">
            <a:avLst/>
          </a:prstGeom>
          <a:solidFill>
            <a:srgbClr val="B84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7" y="2532888"/>
            <a:ext cx="160934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B84314"/>
                </a:solidFill>
                <a:latin typeface="Inter"/>
              </a:rPr>
              <a:t>4 · REVIEW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Phê duyệt trước nhận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15783" y="3794760"/>
            <a:ext cx="1883664" cy="18745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15783" y="3794760"/>
            <a:ext cx="64008" cy="1874519"/>
          </a:xfrm>
          <a:prstGeom prst="rect">
            <a:avLst/>
          </a:prstGeom>
          <a:solidFill>
            <a:srgbClr val="B84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98663" y="3941064"/>
            <a:ext cx="157276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B84314"/>
                </a:solidFill>
                <a:latin typeface="JetBrains Mono"/>
              </a:rPr>
              <a:t>GUARDRAIL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JetBrains Mono"/>
              </a:rPr>
              <a:t>REVIEW_CHECKLIST.md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Inter"/>
              </a:rPr>
              <a:t>no sleep · no weak assertion · no skip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317736" y="2775203"/>
            <a:ext cx="310896" cy="347472"/>
          </a:xfrm>
          <a:prstGeom prst="rightArrow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74352" y="2331720"/>
            <a:ext cx="1883664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74352" y="2331720"/>
            <a:ext cx="1883664" cy="91440"/>
          </a:xfrm>
          <a:prstGeom prst="rect">
            <a:avLst/>
          </a:prstGeom>
          <a:solidFill>
            <a:srgbClr val="762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0656" y="2532888"/>
            <a:ext cx="1609344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762E16"/>
                </a:solidFill>
                <a:latin typeface="Inter"/>
              </a:rPr>
              <a:t>5 · RUN &amp; TRACE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450" b="1">
                <a:solidFill>
                  <a:srgbClr val="0F172A"/>
                </a:solidFill>
                <a:latin typeface="Inter"/>
              </a:rPr>
              <a:t>Chạy + ghi kết quả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74352" y="3794760"/>
            <a:ext cx="1883664" cy="18745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74352" y="3794760"/>
            <a:ext cx="64008" cy="1874519"/>
          </a:xfrm>
          <a:prstGeom prst="rect">
            <a:avLst/>
          </a:prstGeom>
          <a:solidFill>
            <a:srgbClr val="762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7232" y="3941064"/>
            <a:ext cx="1572768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1">
                <a:solidFill>
                  <a:srgbClr val="762E16"/>
                </a:solidFill>
                <a:latin typeface="JetBrains Mono"/>
              </a:rPr>
              <a:t>FEEDBACK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b="1">
                <a:solidFill>
                  <a:srgbClr val="F1F5F9"/>
                </a:solidFill>
                <a:latin typeface="JetBrains Mono"/>
              </a:rPr>
              <a:t>Playwright trace + records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Inter"/>
              </a:rPr>
              <a:t>outcome: completed / failed / blocked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Source: </a:t>
            </a:r>
            <a:r>
              <a:rPr sz="1000" b="0">
                <a:solidFill>
                  <a:srgbClr val="64748B"/>
                </a:solidFill>
                <a:latin typeface="JetBrains Mono"/>
              </a:rPr>
              <a:t>templates/automation-test-harness-experimental/{AGENTS.md, docs/harness/*, scripts/bin/harness-cli.mjs}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Open Issues — để buổi sau sâu hơn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B84314"/>
                </a:solidFill>
                <a:latin typeface="Inter"/>
              </a:rPr>
              <a:t>Sáu khoảng trống thật trong repo, đáng đào tiếp.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91440" cy="109728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Failure attribution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Inter"/>
              </a:rPr>
              <a:t>Decision tree gán lỗi theo tầng (context/tool/env/state/feedback) — repo nói ablation nhưng chưa có checklist.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11880"/>
            <a:ext cx="91440" cy="109728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Context self-tuning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Inter"/>
              </a:rPr>
              <a:t>Chưa có cơ chế agent tự đo 'context sắp đầy / load chưa tối ưu' và auto-compact theo risk lane.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91440" cy="109728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3776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Sub-agent regenerate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Inter"/>
              </a:rPr>
              <a:t>Khi nào sub-agent tự regenerate output ungrounded vs trả summary lỗi cho orchestrator?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86000"/>
            <a:ext cx="91440" cy="109728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Multi-agent re-approval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Inter"/>
              </a:rPr>
              <a:t>Protocol escalation khi high-risk scenario cần đổi schema giữa planner→generator→evaluator.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611880"/>
            <a:ext cx="91440" cy="109728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61188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Context hand-off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Inter"/>
              </a:rPr>
              <a:t>Spec do planner viết nên vào context của generator hay lưu riêng?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937760"/>
            <a:ext cx="91440" cy="109728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93776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Inter"/>
              </a:rPr>
              <a:t>Trace → auto-fix loop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Inter"/>
              </a:rPr>
              <a:t>Trace lỗi lặp → tự phát hiện pattern → đề xuất sửa docs/schema/test (hiện vẫn thủ công).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DE5916"/>
                </a:solidFill>
                <a:latin typeface="JetBrains Mono"/>
              </a:rPr>
              <a:t>Source: </a:t>
            </a:r>
            <a:r>
              <a:rPr sz="1000" b="0">
                <a:solidFill>
                  <a:srgbClr val="64748B"/>
                </a:solidFill>
                <a:latin typeface="JetBrains Mono"/>
              </a:rPr>
              <a:t>Tổng hợp từ openIssue của từng section trong harvest.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Inter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DE5916"/>
                </a:solidFill>
                <a:latin typeface="Inter"/>
              </a:rPr>
              <a:t>—  </a:t>
            </a:r>
            <a:r>
              <a:rPr sz="1800">
                <a:solidFill>
                  <a:srgbClr val="E2E8F0"/>
                </a:solidFill>
                <a:latin typeface="Inter"/>
              </a:rPr>
              <a:t>Model = reasoning. Harness = kỷ luật + observable execution. Lỗi thường ở harness, không ở model.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DE5916"/>
                </a:solidFill>
                <a:latin typeface="Inter"/>
              </a:rPr>
              <a:t>—  </a:t>
            </a:r>
            <a:r>
              <a:rPr sz="1800">
                <a:solidFill>
                  <a:srgbClr val="E2E8F0"/>
                </a:solidFill>
                <a:latin typeface="Inter"/>
              </a:rPr>
              <a:t>Context là ngân sách: progressive disclosure + repo as system of record + compaction-aware.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DE5916"/>
                </a:solidFill>
                <a:latin typeface="Inter"/>
              </a:rPr>
              <a:t>—  </a:t>
            </a:r>
            <a:r>
              <a:rPr sz="1800">
                <a:solidFill>
                  <a:srgbClr val="E2E8F0"/>
                </a:solidFill>
                <a:latin typeface="Inter"/>
              </a:rPr>
              <a:t>Orchestrator giữ summary, sub-agent trả summary — context isolation = scale.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DE5916"/>
                </a:solidFill>
                <a:latin typeface="Inter"/>
              </a:rPr>
              <a:t>—  </a:t>
            </a:r>
            <a:r>
              <a:rPr sz="1800">
                <a:solidFill>
                  <a:srgbClr val="E2E8F0"/>
                </a:solidFill>
                <a:latin typeface="Inter"/>
              </a:rPr>
              <a:t>Done = bằng chứng (test/trace), không phải lời hứa. Guardrail sống ở control plane.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DE5916"/>
                </a:solidFill>
                <a:latin typeface="Inter"/>
              </a:rPr>
              <a:t>—  </a:t>
            </a:r>
            <a:r>
              <a:rPr sz="1800">
                <a:solidFill>
                  <a:srgbClr val="E2E8F0"/>
                </a:solidFill>
                <a:latin typeface="Inter"/>
              </a:rPr>
              <a:t>Citations provenance-based + golden-question evals = niềm tin có thể ĐO.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D7220"/>
                </a:solidFill>
                <a:latin typeface="Inter"/>
              </a:rPr>
              <a:t>Claude Code đã là harness — phần của bạn là vận hành nó có kỷ luật.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D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4800" b="1">
                <a:solidFill>
                  <a:srgbClr val="FFFFFF"/>
                </a:solidFill>
                <a:latin typeface="Inter"/>
              </a:rPr>
              <a:t>Cảm ơn — Q&amp;A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E2E8F0"/>
                </a:solidFill>
                <a:latin typeface="Inter"/>
              </a:rPr>
              <a:t>AI Agent Harness: Architecture, Operations &amp; Building Agents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D7220"/>
                </a:solidFill>
                <a:latin typeface="JetBrains Mono"/>
              </a:rPr>
              <a:t>Tài liệu:  AI-Agent-Harness.md  ·  academy/content/  ·  assistant/AGENTS.md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JetBrains Mono"/>
              </a:rPr>
              <a:t>Sample harness:  templates/automation-test-harness-experimental/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