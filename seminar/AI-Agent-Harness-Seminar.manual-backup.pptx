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4354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MỞ ĐẦU (0:00–0:30). Một câu hook: 'Model giỏi mà fail trong repo này, thành công repo khác — vấn đề không phải model, vấn đề là HARNESS.' Giới thiệu: hôm nay đi qua 6 trụ cột của harness engineering rồi demo 2 harness thật được build bằng Claude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AGENDA (0:30–1:00). Theo nhịp ~3 phút mỗi chủ đề lý thuyết = 18', demo 8', mở/đóng 4'. Nhấn: lý thuyết xong sẽ thấy ngay trong demo — không phải slideware.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Chuyển mục. Câu chốt: model là động cơ; harness là khung gầm + vô-lăng + phanh + đồng hồ.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1 (2:00–5:00). ĐỊNH NGHĨA: harness engineering = kỷ luật thiết kế/kiểm thử/cải thiện hệ thống điều khiển quanh LLM. Năm subsystem là khung phân tích: khi agent fail, hỏi tầng nào hỏng — thiếu context? thiếu tool? environment lệch? mất state? thiếu feedback?  VÍ DỤ: 'Add GET /users/:id'. Không harness: model viết → claim done → bạn chạy test → fail → lặp. Có harness: skill load schema+routes → plan (route→handler→test→migration) → hook PostToolUse chạy test ngay → verification skill check pass → hook SessionEnd dọn tmp + gợi ý commit. Kết quả: code chạy + bằng chứng + git sạch. Chốt: Claude Code đã là harness sẵn — phần còn lại của buổi là cách vận hành nó có kỷ luật.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Chuyển mục. Ẩn dụ: context window = bàn làm việc nhỏ. Bày hết hồ sơ lên bàn = không còn chỗ tư duy.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2 (5:00–8:00). Ba chiến lược: (1) progressive disclosure — 3 lớp: metadata mỗi turn ~50 tok, full body khi relevant, bundled file on-demand. (2) repo as system of record — plan file + commit + PR description sống sót qua reset; todo list chỉ giúp session hiện tại. (3) compaction-aware — harness tự nén history khi gần đầy, nên ghi state ra repo ở mỗi checkpoint; reset xong agent đọc plan file là bắt nhịp lại. CON SỐ ĐẮT GIÁ: CLAUDE.md 5000 dòng tốn ~1M token chỉ cho instruction qua 50 lượt chat. OPEN ISSUE để thảo luận: chưa có cơ chế chuẩn để agent tự đo 'context sắp đầy / load không tối ưu' và tự tune.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Chuyển mục. Ẩn dụ: orchestrator = nhạc trưởng giữ tổng phổ; sub-agent = nhạc công trả về 'đoạn đã chơi', không trả cả bản nhạc thô.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3 (8:00–11:00). Orchestration là lớp control plane quản query loop: quyết input nào hợp lệ, tool nào chạy song song vs tuần tự, khi nào xin phép, khôi phục lỗi ra sao. PATTERN orchestrator/sub-agent: orchestrator dispatch Researcher (đọc 50 file → summary 200 từ) + Implementer (code → diff) + Verifier (test → pass/fail); orchestrator KHÔNG ôm 50 file raw, chỉ giữ summary. Demo Assistant sẽ cho thấy loop này chạy thật: timeline hiện từng tool call. OPEN ISSUE: khi nào sub-agent nên tự regenerate vs chỉ trả summary lỗi cho orchestrator xử lý — ảnh hưởng token &amp;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Chuyển mục. Guardrail nằm ở control plane (harness), KHÔNG ở model weights. Khác permission: permission = tool nào có; guardrail = hành vi nào bị chặn.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4 (11:00–14:00). Guardrail = pattern chặn overreach / under-finish / silent error. Đối phó self-evaluation bias bằng external evaluator hoặc verification skill riêng (agent tự chấm thì thiên vị). Risk lane intake: Tiny (docs) / Normal (story + approval) / High-risk (auth, data model, migration) — context và bằng chứng scale theo lane. Demo Template sẽ cho thấy 'never weaken assertions / no arbitrary sleep / no skip without blocker' được codify thành REVIEW_CHECKLIST, không phải lời khuyên. OPEN ISSUE: protocol escalation khi high-risk scenario cần đổi schema giữa chừng (planner→generator→evaluator) chưa được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Chuyển mục. AGENTS.md không phải encyclopedia, nó là mục lục (table of contents) trỏ tới docs/skills.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5 (14:00–17:00). Đây là tầng instruction của harness. KEY: feature list là primitive — đơn vị nhỏ nhất của intent mà vẫn verify được; không có nó thì 'done' vô nghĩa. Init phase tách riêng vì nó deterministic: đọc file/command, làm rõ scope, tiết kiệm token — bỏ init = agent lao vào làm sai convention. Skill anatomy: frontmatter description chính là trigger signal load vào system prompt mỗi turn, phải ngắn mà rõ. OPEN ISSUE: context hand-off giữa planner→generator→evaluator — spec do planner viết nên đi vào context của generator hay lưu riêng?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Chuyển mục. Câu chốt: bạn không 'tin' agent đúng — bạn ĐO nó đúng. Eval = test suite cho agent; observability = hộp đen chuyến bay.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6 (17:00–20:00). Hai trụ: EVAL (chủ động) + OBSERVABILITY (bị động ghi nhận). Eval B7 chạy 6 câu golden, kết hợp LLM-judge (rubric 0–5) + deterministic checks (có citation? đúng doc? đủ keyword?). Citations provenance-based là bất biến cốt lõi: chỉ section được read_doc_section mới được cite — model không thể bịa nguồn. Mode gating (B8): blueprint tool chỉ gọi được trong harness-design mode → verify guardrail thực thi. OPEN ISSUE hay để thảo luận: feedback loop tự động trace → phát hiện pattern lỗi lặp → tự đề xuất sửa docs/schema/test vẫn chưa có; hiện vẫn là con người đọc trace.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CHUYỂN SANG DEMO (20:00). Nhắc khán giả: mọi nguyên tắc vừa nói — grounding, timeline, guardrail, checklist, JSONL trace — sắp thấy chạy thật. Mở sẵn terminal + browser trước khi bấm slide này.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1 (20:00–24:30, ~4.5'). KHÔNG đi vào kỹ thuật — dùng sơ đồ để giải thích KIẾN TRÚC harness của Assistant, rồi cho chạy thật minh hoạ. Đọc sơ đồ trái→phải: (1) người dùng hỏi (trong academy hoặc widget). (2) GUARDRAIL VÀO chặn câu off-corpus hoặc injection ngay từ đầu. (3) ORCHESTRATOR giữ mục tiêu, điều phối từng bước — không tự bịa. (4) TRA CỨU TÀI LIỆU: agent chỉ được tìm + đọc trong corpus nội bộ, không ra internet. (5) TRẢ LỜI kèm CITATION; guardrail ra bắt buộc phải có dẫn nguồn, nếu không thì làm lại. BĂNG DƯỚI = xuyên suốt: State (Postgres lưu hội thoại/feedback để resume) + Observability (mỗi lượt ghi trace: đọc tài liệu nào, mấy bước, độ trễ). CHỐT: đây chính là 5 trụ cột vừa nói — guardrail, orchestration, context/corpus, state, observability — ghép lại thành 1 hệ. Chạy live: hỏi 1 câu, chỉ cho khán giả thấy câu trả lời + citation truy về academy.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2 (24:30–28:30, ~4'). KHÔNG technical — dùng sơ đồ để chỉ CẤU TRÚC: harness áp các thành phần vào automation test ra sao. Mỗi cột = 1 phase (hàng trên) + thành phần harness điều khiển nó (hộp tối dưới). (1) INTAKE → STATE: mọi yêu cầu ghi vào records.jsonl, phân risk lane. 'Harness bắt đầu bằng intake, không phải code.' (2) CONTEXT → INSTRUCTION: CONTEXT_RULES.md route đúng tài liệu theo phase (Normal lane = product docs + approved spec + fixtures, không phải cả repo). (3) GENERATE → TOOL POLICY: subagent test-generator bị giới hạn tool, no shell, stop condition = chỉ sinh code từ scenario đã duyệt = safe autonomy. (4) REVIEW → GUARDRAIL: REVIEW_CHECKLIST.md codify 'no arbitrary sleep / no weakened assertion / no skip' thành gate có TÊN để reviewer từ chối. (5) RUN &amp; TRACE → FEEDBACK: chạy Playwright, trace .zip, ghi outcome; lỗi lặp ⇒ harness issue (sửa CONTEXT_RULES/skill) vs test issue (test-healer). CHỐT: cùng 5 trụ cột của Assistant, nhưng đóng gói thành FILE trong repo — đó là 'repo as system of record'. Có thể mở nhanh records.jsonl + REVIEW_CHECKLIST.md cho khán giả thấy file thật.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TOOLING (28:30–29:15). Phần thực dụng: harness tốt thì rẻ + tín hiệu cao. Sáu repo FREE giúp tiết kiệm token trong Claude Code, xếp theo 2 nhóm. CẮT TOKEN: (1) agent-browser — điều khiển Chrome bằng accessibility tree thay vì screenshot/HTML, ~82% ít token hơn. (2) rtk — nén output của lệnh dev hay dùng (build/test/git); họ claim 60–90%, thực tế ~20–30%. (3) caveman — skill ép output ngắn gọn, bỏ filler. (4) code-review-graph — map AST/graph thay vì đọc raw file, claim tới 49× ít token cho daily coding. ĐO USAGE: (5) claude-usage-monitor — đồng hồ token realtime cửa sổ 5 giờ + session, biết sắp chạm cap. (6) claude-usage — lịch sử chi tiêu theo session/ngày/tuần, biết token đi đâu để tối ưu. BĂNG DƯỚI — ORCHESTRATE: superpowers + everything-claude-code đóng gói sẵn skills/subagents/hooks → chính là 5 trụ cột của buổi nói được gói thành repo cài đặt nhanh. CHỐT: dùng cái nào cần, stack lại = lợi cộng dồn (lower cost + higher signal). (Lưu ý: handle 2 repo orchestrator chưa verify chính xác owner — nói theo tên.)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TAKEAWAYS (29:15–29:45). Năm câu mang về. Nhấn câu cuối: công cụ đã có, khác biệt nằm ở kỷ luật vận hành.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Q&amp;A (29:45–30:00+). Dẫn lại Open Issues nếu khán giả im. Để slide tài liệu mở để mọi người chụp.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822960" cy="822960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1481328"/>
            <a:ext cx="78638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3400" b="1" dirty="0">
                <a:solidFill>
                  <a:srgbClr val="FFFFFF"/>
                </a:solidFill>
                <a:latin typeface="JetBrains Mono"/>
              </a:rPr>
              <a:t>H</a:t>
            </a:r>
            <a:endParaRPr sz="3400" b="1" dirty="0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28800" y="1417320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ED7220"/>
                </a:solidFill>
                <a:latin typeface="Inter"/>
              </a:rPr>
              <a:t>HARNESS ACADEMY  ·  SEMINAR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106070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5200" b="1" dirty="0">
                <a:solidFill>
                  <a:srgbClr val="FFFFFF"/>
                </a:solidFill>
                <a:latin typeface="Inter"/>
              </a:rPr>
              <a:t>AI Agent Harness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600" b="0" dirty="0">
                <a:solidFill>
                  <a:srgbClr val="E2E8F0"/>
                </a:solidFill>
                <a:latin typeface="Inter"/>
              </a:rPr>
              <a:t>Architecture, Operations &amp; Building Agents with Claude 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Inter"/>
              </a:rPr>
              <a:t>Agenda — 30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>
                <a:solidFill>
                  <a:srgbClr val="B84314"/>
                </a:solidFill>
                <a:latin typeface="Inter"/>
              </a:rPr>
              <a:t>Six pillars of the harness, then watch them run in two demos.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377440"/>
            <a:ext cx="502920" cy="502920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JetBrains Mon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377440"/>
            <a:ext cx="8778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1E293B"/>
                </a:solidFill>
                <a:latin typeface="Inter"/>
              </a:rPr>
              <a:t>What Is Harness Engineering?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944368"/>
            <a:ext cx="502920" cy="502920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94436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JetBrains Mono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944368"/>
            <a:ext cx="8778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1E293B"/>
                </a:solidFill>
                <a:latin typeface="Inter"/>
              </a:rPr>
              <a:t>Context Engineering: The Working Memory Budget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511296"/>
            <a:ext cx="502920" cy="502920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511296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JetBrains Mono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511296"/>
            <a:ext cx="8778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1E293B"/>
                </a:solidFill>
                <a:latin typeface="Inter"/>
              </a:rPr>
              <a:t>Orchestration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078224"/>
            <a:ext cx="502920" cy="502920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4078224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JetBrai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078224"/>
            <a:ext cx="8778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1E293B"/>
                </a:solidFill>
                <a:latin typeface="Inter"/>
              </a:rPr>
              <a:t>Constraints, Guardrails &amp; Safe Autonomy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645152"/>
            <a:ext cx="502920" cy="502920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464515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JetBrai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645152"/>
            <a:ext cx="8778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1E293B"/>
                </a:solidFill>
                <a:latin typeface="Inter"/>
              </a:rPr>
              <a:t>Specs, Agent Files &amp; Workflow Design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212080"/>
            <a:ext cx="502920" cy="502920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521208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JetBrains Mono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5212080"/>
            <a:ext cx="8778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1E293B"/>
                </a:solidFill>
                <a:latin typeface="Inter"/>
              </a:rPr>
              <a:t>Evals &amp; Observability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779008"/>
            <a:ext cx="502920" cy="5029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" y="577900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JetBrains Mono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5779008"/>
            <a:ext cx="8778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1E293B"/>
                </a:solidFill>
                <a:latin typeface="Inter"/>
              </a:rPr>
              <a:t>Demo: Assistant Harness Academy  +  Harness Template (Automation Test)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2331720"/>
            <a:ext cx="2194560" cy="128016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606040"/>
            <a:ext cx="22860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0" b="1">
                <a:solidFill>
                  <a:srgbClr val="ED7220"/>
                </a:solidFill>
                <a:latin typeface="JetBrains Mono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2743200"/>
            <a:ext cx="8229600" cy="11716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4000" b="1" dirty="0">
                <a:solidFill>
                  <a:srgbClr val="FFFFFF"/>
                </a:solidFill>
                <a:latin typeface="Inter"/>
              </a:rPr>
              <a:t>What </a:t>
            </a:r>
            <a:r>
              <a:rPr lang="en-US" sz="4000" b="1" dirty="0">
                <a:solidFill>
                  <a:srgbClr val="FFFFFF"/>
                </a:solidFill>
                <a:latin typeface="Inter"/>
              </a:rPr>
              <a:t>a Harness Actually is </a:t>
            </a:r>
            <a:r>
              <a:rPr sz="4000" b="1" dirty="0">
                <a:solidFill>
                  <a:srgbClr val="FFFFFF"/>
                </a:solidFill>
                <a:latin typeface="Inter"/>
              </a:rPr>
              <a:t>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dirty="0">
                <a:solidFill>
                  <a:srgbClr val="64748B"/>
                </a:solidFill>
                <a:latin typeface="Inter"/>
              </a:rPr>
              <a:t>The model supplies reasoning. The harness supplies discipline.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574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3000" b="1" dirty="0">
                <a:solidFill>
                  <a:srgbClr val="0F172A"/>
                </a:solidFill>
                <a:latin typeface="Inter"/>
              </a:rPr>
              <a:t>What</a:t>
            </a:r>
            <a:r>
              <a:rPr lang="en-US" sz="3000" b="1" dirty="0">
                <a:solidFill>
                  <a:srgbClr val="0F172A"/>
                </a:solidFill>
                <a:latin typeface="Inter"/>
              </a:rPr>
              <a:t> a Harness Actually is </a:t>
            </a:r>
            <a:r>
              <a:rPr sz="3000" b="1" dirty="0">
                <a:solidFill>
                  <a:srgbClr val="0F172A"/>
                </a:solidFill>
                <a:latin typeface="Inter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>
                <a:solidFill>
                  <a:srgbClr val="B84314"/>
                </a:solidFill>
                <a:latin typeface="Inter"/>
              </a:rPr>
              <a:t>A strong model fails here but succeeds elsewhere — the problem is the harness, not the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6400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650" b="1" dirty="0">
                <a:solidFill>
                  <a:srgbClr val="DE5916"/>
                </a:solidFill>
                <a:latin typeface="Inter"/>
              </a:rPr>
              <a:t>—  </a:t>
            </a:r>
            <a:r>
              <a:rPr sz="1650" dirty="0">
                <a:solidFill>
                  <a:srgbClr val="1E293B"/>
                </a:solidFill>
                <a:latin typeface="Inter"/>
              </a:rPr>
              <a:t>The discipline of designing, testing &amp; improving the control system around an LLM.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650" b="1" dirty="0">
                <a:solidFill>
                  <a:srgbClr val="DE5916"/>
                </a:solidFill>
                <a:latin typeface="Inter"/>
              </a:rPr>
              <a:t>—  </a:t>
            </a:r>
            <a:r>
              <a:rPr sz="1650" dirty="0">
                <a:solidFill>
                  <a:srgbClr val="1E293B"/>
                </a:solidFill>
                <a:latin typeface="Inter"/>
              </a:rPr>
              <a:t>5 subsystems: instruction · tool · environment · state · feedback.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650" b="1" dirty="0">
                <a:solidFill>
                  <a:srgbClr val="DE5916"/>
                </a:solidFill>
                <a:latin typeface="Inter"/>
              </a:rPr>
              <a:t>—  </a:t>
            </a:r>
            <a:r>
              <a:rPr sz="1650" dirty="0">
                <a:solidFill>
                  <a:srgbClr val="1E293B"/>
                </a:solidFill>
                <a:latin typeface="Inter"/>
              </a:rPr>
              <a:t>Agent failure = behavior gap, not reasoning: lost context, overreach, premature 'done', dirty state, no observability.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650" b="1" dirty="0">
                <a:solidFill>
                  <a:srgbClr val="DE5916"/>
                </a:solidFill>
                <a:latin typeface="Inter"/>
              </a:rPr>
              <a:t>—  </a:t>
            </a:r>
            <a:r>
              <a:rPr sz="1650" dirty="0">
                <a:solidFill>
                  <a:srgbClr val="1E293B"/>
                </a:solidFill>
                <a:latin typeface="Inter"/>
              </a:rPr>
              <a:t>Control plane (intent, approval, trace, recovery) vs execution plane (risky file/shell work).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650" b="1" dirty="0">
                <a:solidFill>
                  <a:srgbClr val="DE5916"/>
                </a:solidFill>
                <a:latin typeface="Inter"/>
              </a:rPr>
              <a:t>—  </a:t>
            </a:r>
            <a:r>
              <a:rPr sz="1650" dirty="0">
                <a:solidFill>
                  <a:srgbClr val="1E293B"/>
                </a:solidFill>
                <a:latin typeface="Inter"/>
              </a:rPr>
              <a:t>Repo as system of record: decisions/plan/state/trace committed to files, not living in chat.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2286000"/>
            <a:ext cx="4206240" cy="35661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0" y="2286000"/>
            <a:ext cx="64008" cy="3566160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16368" y="2414016"/>
            <a:ext cx="3840480" cy="1906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 dirty="0">
                <a:solidFill>
                  <a:srgbClr val="ED7220"/>
                </a:solidFill>
                <a:latin typeface="JetBrains Mono"/>
              </a:rPr>
              <a:t>5-SUBSYSTEM HARNESS MODEL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lang="en-US" sz="1200" dirty="0">
                <a:solidFill>
                  <a:srgbClr val="F1F5F9"/>
                </a:solidFill>
                <a:latin typeface="JetBrains Mono"/>
              </a:rPr>
              <a:t>I</a:t>
            </a:r>
            <a:r>
              <a:rPr sz="1200" dirty="0">
                <a:solidFill>
                  <a:srgbClr val="F1F5F9"/>
                </a:solidFill>
                <a:latin typeface="JetBrains Mono"/>
              </a:rPr>
              <a:t>nstruction →  AGENTS.md + docs/</a:t>
            </a:r>
            <a:r>
              <a:rPr lang="en-US" sz="1200" dirty="0">
                <a:solidFill>
                  <a:srgbClr val="F1F5F9"/>
                </a:solidFill>
                <a:latin typeface="JetBrains Mono"/>
              </a:rPr>
              <a:t> + Skills</a:t>
            </a:r>
            <a:endParaRPr sz="1200" dirty="0">
              <a:solidFill>
                <a:srgbClr val="F1F5F9"/>
              </a:solidFill>
              <a:latin typeface="JetBrains Mono"/>
            </a:endParaRP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lang="en-US" sz="1200" dirty="0">
                <a:solidFill>
                  <a:srgbClr val="F1F5F9"/>
                </a:solidFill>
                <a:latin typeface="JetBrains Mono"/>
              </a:rPr>
              <a:t>T</a:t>
            </a:r>
            <a:r>
              <a:rPr sz="1200" dirty="0">
                <a:solidFill>
                  <a:srgbClr val="F1F5F9"/>
                </a:solidFill>
                <a:latin typeface="JetBrains Mono"/>
              </a:rPr>
              <a:t>ool        →  Read/Edit/Bash + MCP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lang="en-US" sz="1200" dirty="0">
                <a:solidFill>
                  <a:srgbClr val="F1F5F9"/>
                </a:solidFill>
                <a:latin typeface="JetBrains Mono"/>
              </a:rPr>
              <a:t>E</a:t>
            </a:r>
            <a:r>
              <a:rPr sz="1200" dirty="0">
                <a:solidFill>
                  <a:srgbClr val="F1F5F9"/>
                </a:solidFill>
                <a:latin typeface="JetBrains Mono"/>
              </a:rPr>
              <a:t>nvironment →  runtime pin + </a:t>
            </a:r>
            <a:r>
              <a:rPr sz="1200" dirty="0" err="1">
                <a:solidFill>
                  <a:srgbClr val="F1F5F9"/>
                </a:solidFill>
                <a:latin typeface="JetBrains Mono"/>
              </a:rPr>
              <a:t>lockfile</a:t>
            </a:r>
            <a:endParaRPr sz="1200" dirty="0">
              <a:solidFill>
                <a:srgbClr val="F1F5F9"/>
              </a:solidFill>
              <a:latin typeface="JetBrains Mono"/>
            </a:endParaRP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lang="en-US" sz="1200" dirty="0">
                <a:solidFill>
                  <a:srgbClr val="F1F5F9"/>
                </a:solidFill>
                <a:latin typeface="JetBrains Mono"/>
              </a:rPr>
              <a:t>S</a:t>
            </a:r>
            <a:r>
              <a:rPr sz="1200" dirty="0">
                <a:solidFill>
                  <a:srgbClr val="F1F5F9"/>
                </a:solidFill>
                <a:latin typeface="JetBrains Mono"/>
              </a:rPr>
              <a:t>tate       →  repo artifact + PROGRESS.md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lang="en-US" sz="1200" dirty="0">
                <a:solidFill>
                  <a:srgbClr val="F1F5F9"/>
                </a:solidFill>
                <a:latin typeface="JetBrains Mono"/>
              </a:rPr>
              <a:t>F</a:t>
            </a:r>
            <a:r>
              <a:rPr sz="1200" dirty="0">
                <a:solidFill>
                  <a:srgbClr val="F1F5F9"/>
                </a:solidFill>
                <a:latin typeface="JetBrains Mono"/>
              </a:rPr>
              <a:t>eedback    →  test + lint + e2e + logs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endParaRPr sz="1200" dirty="0">
              <a:solidFill>
                <a:srgbClr val="F1F5F9"/>
              </a:solidFill>
              <a:latin typeface="JetBrains Mono"/>
            </a:endParaRP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lang="en-US" sz="1200" dirty="0">
                <a:solidFill>
                  <a:srgbClr val="F1F5F9"/>
                </a:solidFill>
                <a:latin typeface="JetBrains Mono"/>
              </a:rPr>
              <a:t>Q</a:t>
            </a:r>
            <a:r>
              <a:rPr sz="1200" dirty="0">
                <a:solidFill>
                  <a:srgbClr val="F1F5F9"/>
                </a:solidFill>
                <a:latin typeface="JetBrains Mono"/>
              </a:rPr>
              <a:t>uality = </a:t>
            </a:r>
            <a:r>
              <a:rPr lang="en-US" sz="1200" dirty="0">
                <a:solidFill>
                  <a:srgbClr val="F1F5F9"/>
                </a:solidFill>
                <a:latin typeface="JetBrains Mono"/>
              </a:rPr>
              <a:t>T</a:t>
            </a:r>
            <a:r>
              <a:rPr sz="1200" dirty="0">
                <a:solidFill>
                  <a:srgbClr val="F1F5F9"/>
                </a:solidFill>
                <a:latin typeface="JetBrains Mono"/>
              </a:rPr>
              <a:t>ask done</a:t>
            </a:r>
            <a:r>
              <a:rPr lang="en-US" sz="1200" dirty="0">
                <a:solidFill>
                  <a:srgbClr val="F1F5F9"/>
                </a:solidFill>
                <a:latin typeface="JetBrains Mono"/>
              </a:rPr>
              <a:t> </a:t>
            </a:r>
            <a:r>
              <a:rPr sz="1200" dirty="0">
                <a:solidFill>
                  <a:srgbClr val="F1F5F9"/>
                </a:solidFill>
                <a:latin typeface="JetBrains Mono"/>
              </a:rPr>
              <a:t>+ </a:t>
            </a:r>
            <a:r>
              <a:rPr lang="en-US" sz="1200" dirty="0">
                <a:solidFill>
                  <a:srgbClr val="F1F5F9"/>
                </a:solidFill>
                <a:latin typeface="JetBrains Mono"/>
              </a:rPr>
              <a:t>T</a:t>
            </a:r>
            <a:r>
              <a:rPr sz="1200" dirty="0">
                <a:solidFill>
                  <a:srgbClr val="F1F5F9"/>
                </a:solidFill>
                <a:latin typeface="JetBrains Mono"/>
              </a:rPr>
              <a:t>rajectory quality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2331720"/>
            <a:ext cx="2194560" cy="128016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606040"/>
            <a:ext cx="22860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0" b="1">
                <a:solidFill>
                  <a:srgbClr val="ED7220"/>
                </a:solidFill>
                <a:latin typeface="JetBrains Mono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2743200"/>
            <a:ext cx="8229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4000" b="1">
                <a:solidFill>
                  <a:srgbClr val="FFFFFF"/>
                </a:solidFill>
                <a:latin typeface="Inter"/>
              </a:rPr>
              <a:t>Context Engineering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64748B"/>
                </a:solidFill>
                <a:latin typeface="Inter"/>
              </a:rPr>
              <a:t>The Working Memory Budget — the context window is a finite resource.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Inter"/>
              </a:rPr>
              <a:t>Context Engineering: Working Memory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>
                <a:solidFill>
                  <a:srgbClr val="B84314"/>
                </a:solidFill>
                <a:latin typeface="Inter"/>
              </a:rPr>
              <a:t>Manage the context budget so the agent doesn't lose decisions on compaction.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6400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650" b="1">
                <a:solidFill>
                  <a:srgbClr val="DE5916"/>
                </a:solidFill>
                <a:latin typeface="Inter"/>
              </a:rPr>
              <a:t>—  </a:t>
            </a:r>
            <a:r>
              <a:rPr sz="1650">
                <a:solidFill>
                  <a:srgbClr val="1E293B"/>
                </a:solidFill>
                <a:latin typeface="Inter"/>
              </a:rPr>
              <a:t>Progressive disclosure: load context by phase + risk lane, don't maximize.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650" b="1">
                <a:solidFill>
                  <a:srgbClr val="DE5916"/>
                </a:solidFill>
                <a:latin typeface="Inter"/>
              </a:rPr>
              <a:t>—  </a:t>
            </a:r>
            <a:r>
              <a:rPr sz="1650">
                <a:solidFill>
                  <a:srgbClr val="1E293B"/>
                </a:solidFill>
                <a:latin typeface="Inter"/>
              </a:rPr>
              <a:t>Risk lanes: Tiny ~2K · Normal ~5K · High-risk ~10K tokens of harness context.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650" b="1">
                <a:solidFill>
                  <a:srgbClr val="DE5916"/>
                </a:solidFill>
                <a:latin typeface="Inter"/>
              </a:rPr>
              <a:t>—  </a:t>
            </a:r>
            <a:r>
              <a:rPr sz="1650">
                <a:solidFill>
                  <a:srgbClr val="1E293B"/>
                </a:solidFill>
                <a:latin typeface="Inter"/>
              </a:rPr>
              <a:t>Repo as system of record: plan file + commit + PR description = state across sessions.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650" b="1">
                <a:solidFill>
                  <a:srgbClr val="DE5916"/>
                </a:solidFill>
                <a:latin typeface="Inter"/>
              </a:rPr>
              <a:t>—  </a:t>
            </a:r>
            <a:r>
              <a:rPr sz="1650">
                <a:solidFill>
                  <a:srgbClr val="1E293B"/>
                </a:solidFill>
                <a:latin typeface="Inter"/>
              </a:rPr>
              <a:t>Compaction-aware: chat history does NOT survive reset → persist every decision outside the context window.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650" b="1">
                <a:solidFill>
                  <a:srgbClr val="DE5916"/>
                </a:solidFill>
                <a:latin typeface="Inter"/>
              </a:rPr>
              <a:t>—  </a:t>
            </a:r>
            <a:r>
              <a:rPr sz="1650">
                <a:solidFill>
                  <a:srgbClr val="1E293B"/>
                </a:solidFill>
                <a:latin typeface="Inter"/>
              </a:rPr>
              <a:t>Skills load by description match — activate only when relevant, no token waste.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2286000"/>
            <a:ext cx="4206240" cy="35661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0" y="2286000"/>
            <a:ext cx="64008" cy="3566160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16368" y="2414016"/>
            <a:ext cx="3840480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ED7220"/>
                </a:solidFill>
                <a:latin typeface="JetBrains Mono"/>
              </a:rPr>
              <a:t>MONO vs PROGRESSIVE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# monolithic CLAUDE.md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5000 lines ≈ 20K tok / message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× 50 messages ≈ 1,000,000 tok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          (instruction alone!)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endParaRPr sz="1200">
              <a:solidFill>
                <a:srgbClr val="F1F5F9"/>
              </a:solidFill>
              <a:latin typeface="JetBrains Mono"/>
            </a:endParaRP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# progressive disclosure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index   &lt; 100 lines  (~100 tok)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skill   &lt; 200 lines  (load on demand)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plan    &lt; 300 lines  (on-demand)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→ ~90% waste cut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2331720"/>
            <a:ext cx="2194560" cy="128016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606040"/>
            <a:ext cx="22860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0" b="1">
                <a:solidFill>
                  <a:srgbClr val="ED7220"/>
                </a:solidFill>
                <a:latin typeface="JetBrains Mono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2743200"/>
            <a:ext cx="8229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4000" b="1">
                <a:solidFill>
                  <a:srgbClr val="FFFFFF"/>
                </a:solidFill>
                <a:latin typeface="Inter"/>
              </a:rPr>
              <a:t>Orchestration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64748B"/>
                </a:solidFill>
                <a:latin typeface="Inter"/>
              </a:rPr>
              <a:t>One agent doing it all = full context, hallucination. Split orchestrator &amp; sub-agents.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Inter"/>
              </a:rPr>
              <a:t>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>
                <a:solidFill>
                  <a:srgbClr val="B84314"/>
                </a:solidFill>
                <a:latin typeface="Inter"/>
              </a:rPr>
              <a:t>The control plane runs the query loop; the execution plane only runs permitted tools.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6400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50" b="1">
                <a:solidFill>
                  <a:srgbClr val="DE5916"/>
                </a:solidFill>
                <a:latin typeface="Inter"/>
              </a:rPr>
              <a:t>—  </a:t>
            </a:r>
            <a:r>
              <a:rPr sz="1550">
                <a:solidFill>
                  <a:srgbClr val="1E293B"/>
                </a:solidFill>
                <a:latin typeface="Inter"/>
              </a:rPr>
              <a:t>5-part query loop: take input → read stream → dispatch tools (approval, parallel/serial) → recover errors → stop condition.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50" b="1">
                <a:solidFill>
                  <a:srgbClr val="DE5916"/>
                </a:solidFill>
                <a:latin typeface="Inter"/>
              </a:rPr>
              <a:t>—  </a:t>
            </a:r>
            <a:r>
              <a:rPr sz="1550">
                <a:solidFill>
                  <a:srgbClr val="1E293B"/>
                </a:solidFill>
                <a:latin typeface="Inter"/>
              </a:rPr>
              <a:t>Orchestrator holds {task, summaries, next}; sub-agents return a SUMMARY, not raw output.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50" b="1">
                <a:solidFill>
                  <a:srgbClr val="DE5916"/>
                </a:solidFill>
                <a:latin typeface="Inter"/>
              </a:rPr>
              <a:t>—  </a:t>
            </a:r>
            <a:r>
              <a:rPr sz="1550">
                <a:solidFill>
                  <a:srgbClr val="1E293B"/>
                </a:solidFill>
                <a:latin typeface="Inter"/>
              </a:rPr>
              <a:t>Wins: context isolation · parallel execution · specialization. Limits: ≤3–5 agents, ≤5'/task, 1 goal/agent, ≤2 levels.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50" b="1">
                <a:solidFill>
                  <a:srgbClr val="DE5916"/>
                </a:solidFill>
                <a:latin typeface="Inter"/>
              </a:rPr>
              <a:t>—  </a:t>
            </a:r>
            <a:r>
              <a:rPr sz="1550">
                <a:solidFill>
                  <a:srgbClr val="1E293B"/>
                </a:solidFill>
                <a:latin typeface="Inter"/>
              </a:rPr>
              <a:t>Input guardrail catches errors early; output guardrail requires grounding or regenerates.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50" b="1">
                <a:solidFill>
                  <a:srgbClr val="DE5916"/>
                </a:solidFill>
                <a:latin typeface="Inter"/>
              </a:rPr>
              <a:t>—  </a:t>
            </a:r>
            <a:r>
              <a:rPr sz="1550">
                <a:solidFill>
                  <a:srgbClr val="1E293B"/>
                </a:solidFill>
                <a:latin typeface="Inter"/>
              </a:rPr>
              <a:t>Tool policy: read/grep broad; write/delete/deploy need approval; log calls → context.reads.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2286000"/>
            <a:ext cx="4206240" cy="35661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0" y="2286000"/>
            <a:ext cx="64008" cy="3566160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16368" y="2414016"/>
            <a:ext cx="3840480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ED7220"/>
                </a:solidFill>
                <a:latin typeface="JetBrains Mono"/>
              </a:rPr>
              <a:t>assistant: HarnessOrchestrator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Agent SDK loop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  ├─ checkInput()  guardrail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  ├─ tools: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  │    list_docs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  │    grep_docs   (VN+EN expand)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  │    read_doc_section → reads[]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  │    harness_blueprint (gated)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  ├─ mapStreamEvent → SSE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  └─ buildCitations(context.reads)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DE5916"/>
                </a:solidFill>
                <a:latin typeface="JetBrains Mono"/>
              </a:rPr>
              <a:t>Source: </a:t>
            </a:r>
            <a:r>
              <a:rPr sz="1000" b="0">
                <a:solidFill>
                  <a:srgbClr val="64748B"/>
                </a:solidFill>
                <a:latin typeface="JetBrains Mono"/>
              </a:rPr>
              <a:t>lectures/13,14  ·  assistant/apps/api/src/agent/harnessAssistant.ts  ·  AI-Agent-Harness.md §5.2,§6.4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2331720"/>
            <a:ext cx="2194560" cy="128016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606040"/>
            <a:ext cx="22860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0" b="1">
                <a:solidFill>
                  <a:srgbClr val="ED7220"/>
                </a:solidFill>
                <a:latin typeface="JetBrains Mono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2743200"/>
            <a:ext cx="8229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4000" b="1">
                <a:solidFill>
                  <a:srgbClr val="FFFFFF"/>
                </a:solidFill>
                <a:latin typeface="Inter"/>
              </a:rPr>
              <a:t>Constraints, Guardrails
&amp; Safe Autonomy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64748B"/>
                </a:solidFill>
                <a:latin typeface="Inter"/>
              </a:rPr>
              <a:t>Agents fail from missing scope discipline, not missing reasoning.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dirty="0">
                <a:solidFill>
                  <a:srgbClr val="0F172A"/>
                </a:solidFill>
                <a:latin typeface="Inter"/>
              </a:rPr>
              <a:t>Constraints, Guardrails &amp; Safe Autonomy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>
                <a:solidFill>
                  <a:srgbClr val="B84314"/>
                </a:solidFill>
                <a:latin typeface="Inter"/>
              </a:rPr>
              <a:t>Scope lock · finish gate · circuit breaker · error as the main path.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6400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50" b="1">
                <a:solidFill>
                  <a:srgbClr val="DE5916"/>
                </a:solidFill>
                <a:latin typeface="Inter"/>
              </a:rPr>
              <a:t>—  </a:t>
            </a:r>
            <a:r>
              <a:rPr sz="1550">
                <a:solidFill>
                  <a:srgbClr val="1E293B"/>
                </a:solidFill>
                <a:latin typeface="Inter"/>
              </a:rPr>
              <a:t>Scope Lock: feature list matches the request; explicit 'do NOT'; diff &gt;20 files on a bugfix = red flag.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50" b="1">
                <a:solidFill>
                  <a:srgbClr val="DE5916"/>
                </a:solidFill>
                <a:latin typeface="Inter"/>
              </a:rPr>
              <a:t>—  </a:t>
            </a:r>
            <a:r>
              <a:rPr sz="1550">
                <a:solidFill>
                  <a:srgbClr val="1E293B"/>
                </a:solidFill>
                <a:latin typeface="Inter"/>
              </a:rPr>
              <a:t>Finish Gate: done = evidence (test output, trace), NOT a promise. DoD includes typecheck/lint/test/e2e.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50" b="1">
                <a:solidFill>
                  <a:srgbClr val="DE5916"/>
                </a:solidFill>
                <a:latin typeface="Inter"/>
              </a:rPr>
              <a:t>—  </a:t>
            </a:r>
            <a:r>
              <a:rPr sz="1550">
                <a:solidFill>
                  <a:srgbClr val="1E293B"/>
                </a:solidFill>
                <a:latin typeface="Inter"/>
              </a:rPr>
              <a:t>Error is first-class: 5 patterns (context overflow, truncation, tool interrupt, infinite hook, failed compaction).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50" b="1">
                <a:solidFill>
                  <a:srgbClr val="DE5916"/>
                </a:solidFill>
                <a:latin typeface="Inter"/>
              </a:rPr>
              <a:t>—  </a:t>
            </a:r>
            <a:r>
              <a:rPr sz="1550">
                <a:solidFill>
                  <a:srgbClr val="1E293B"/>
                </a:solidFill>
                <a:latin typeface="Inter"/>
              </a:rPr>
              <a:t>Circuit breaker: same tool+input &gt;3× → block; hook depth &gt;5 → warn; retry limit per error type.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50" b="1">
                <a:solidFill>
                  <a:srgbClr val="DE5916"/>
                </a:solidFill>
                <a:latin typeface="Inter"/>
              </a:rPr>
              <a:t>—  </a:t>
            </a:r>
            <a:r>
              <a:rPr sz="1550">
                <a:solidFill>
                  <a:srgbClr val="1E293B"/>
                </a:solidFill>
                <a:latin typeface="Inter"/>
              </a:rPr>
              <a:t>Transparent recovery: { status, summary, artifacts, next_actions, recovery_hint } — no silent fix.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2286000"/>
            <a:ext cx="4206240" cy="35661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0" y="2286000"/>
            <a:ext cx="64008" cy="3566160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16368" y="2414016"/>
            <a:ext cx="3840480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ED7220"/>
                </a:solidFill>
                <a:latin typeface="JetBrains Mono"/>
              </a:rPr>
              <a:t>FINISH GATE (Definition of Done)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□ feature list: every item ☑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□ npm test        → all green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□ npm run typecheck → pass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□ npm run lint    → pass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□ diff == feature list?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□ evidence pasted in response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──────────────────────────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ONLY WHEN ALL PASS → claim done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2331720"/>
            <a:ext cx="2194560" cy="128016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606040"/>
            <a:ext cx="22860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0" b="1">
                <a:solidFill>
                  <a:srgbClr val="ED7220"/>
                </a:solidFill>
                <a:latin typeface="JetBrains Mono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2743200"/>
            <a:ext cx="8229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4000" b="1">
                <a:solidFill>
                  <a:srgbClr val="FFFFFF"/>
                </a:solidFill>
                <a:latin typeface="Inter"/>
              </a:rPr>
              <a:t>Specs, Agent Files
&amp; Workflow Design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64748B"/>
                </a:solidFill>
                <a:latin typeface="Inter"/>
              </a:rPr>
              <a:t>Instruction &amp; context layer — load progressively, not the whole encyclopedia.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Inter"/>
              </a:rPr>
              <a:t>Specs, Agent Files &amp; Workflow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>
                <a:solidFill>
                  <a:srgbClr val="B84314"/>
                </a:solidFill>
                <a:latin typeface="Inter"/>
              </a:rPr>
              <a:t>AGENTS.md is an index, the feature list is the primitive, init phase precedes 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6400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50" b="1">
                <a:solidFill>
                  <a:srgbClr val="DE5916"/>
                </a:solidFill>
                <a:latin typeface="Inter"/>
              </a:rPr>
              <a:t>—  </a:t>
            </a:r>
            <a:r>
              <a:rPr sz="1550">
                <a:solidFill>
                  <a:srgbClr val="1E293B"/>
                </a:solidFill>
                <a:latin typeface="Inter"/>
              </a:rPr>
              <a:t>AGENTS.md / CLAUDE.md = index &lt;100 lines: purpose, stack versions, 3–4 commands, Definition of Done.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50" b="1">
                <a:solidFill>
                  <a:srgbClr val="DE5916"/>
                </a:solidFill>
                <a:latin typeface="Inter"/>
              </a:rPr>
              <a:t>—  </a:t>
            </a:r>
            <a:r>
              <a:rPr sz="1550">
                <a:solidFill>
                  <a:srgbClr val="1E293B"/>
                </a:solidFill>
                <a:latin typeface="Inter"/>
              </a:rPr>
              <a:t>The feature list is the primitive of intent: atomic, verifiable, concrete checkboxes — without it you can't verify.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50" b="1">
                <a:solidFill>
                  <a:srgbClr val="DE5916"/>
                </a:solidFill>
                <a:latin typeface="Inter"/>
              </a:rPr>
              <a:t>—  </a:t>
            </a:r>
            <a:r>
              <a:rPr sz="1550">
                <a:solidFill>
                  <a:srgbClr val="1E293B"/>
                </a:solidFill>
                <a:latin typeface="Inter"/>
              </a:rPr>
              <a:t>Init phase is mandatory before action: read memory → git state → active plan → confirm scope with the user.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50" b="1">
                <a:solidFill>
                  <a:srgbClr val="DE5916"/>
                </a:solidFill>
                <a:latin typeface="Inter"/>
              </a:rPr>
              <a:t>—  </a:t>
            </a:r>
            <a:r>
              <a:rPr sz="1550">
                <a:solidFill>
                  <a:srgbClr val="1E293B"/>
                </a:solidFill>
                <a:latin typeface="Inter"/>
              </a:rPr>
              <a:t>Skill triggerability via description: 'Use when schema changes. Keywords: schema, migration, ALTER TABLE'.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50" b="1">
                <a:solidFill>
                  <a:srgbClr val="DE5916"/>
                </a:solidFill>
                <a:latin typeface="Inter"/>
              </a:rPr>
              <a:t>—  </a:t>
            </a:r>
            <a:r>
              <a:rPr sz="1550">
                <a:solidFill>
                  <a:srgbClr val="1E293B"/>
                </a:solidFill>
                <a:latin typeface="Inter"/>
              </a:rPr>
              <a:t>Context routing by phase: intake → planning → implementation → validation.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2286000"/>
            <a:ext cx="4206240" cy="35661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0" y="2286000"/>
            <a:ext cx="64008" cy="3566160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16368" y="2414016"/>
            <a:ext cx="3840480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ED7220"/>
                </a:solidFill>
                <a:latin typeface="JetBrains Mono"/>
              </a:rPr>
              <a:t>PROGRESSIVE DISCLOSURE (3 tier)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tier 1  (every turn)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  index 100 tok + skill names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tier 2  (when relevant)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  SKILL.md body 200–1000 tok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tier 3  (on-demand)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  script / reference / full doc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endParaRPr sz="1200">
              <a:solidFill>
                <a:srgbClr val="F1F5F9"/>
              </a:solidFill>
              <a:latin typeface="JetBrains Mono"/>
            </a:endParaRP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frontmatter: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  description: Use when …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  keywords: [schema, migration]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2331720"/>
            <a:ext cx="2194560" cy="128016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606040"/>
            <a:ext cx="22860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0" b="1">
                <a:solidFill>
                  <a:srgbClr val="ED7220"/>
                </a:solidFill>
                <a:latin typeface="JetBrains Mono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2743200"/>
            <a:ext cx="8229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4000" b="1">
                <a:solidFill>
                  <a:srgbClr val="FFFFFF"/>
                </a:solidFill>
                <a:latin typeface="Inter"/>
              </a:rPr>
              <a:t>Evals &amp; Observability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64748B"/>
                </a:solidFill>
                <a:latin typeface="Inter"/>
              </a:rPr>
              <a:t>Agent confidence ≠ evidence. Data is evidence: traces, citations, evals.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dirty="0">
                <a:solidFill>
                  <a:srgbClr val="0F172A"/>
                </a:solidFill>
                <a:latin typeface="Inter"/>
              </a:rPr>
              <a:t>Evals &amp; 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>
                <a:solidFill>
                  <a:srgbClr val="B84314"/>
                </a:solidFill>
                <a:latin typeface="Inter"/>
              </a:rPr>
              <a:t>Validate agent behavior with evidence and traces, not predictions.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6400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00" b="1">
                <a:solidFill>
                  <a:srgbClr val="DE5916"/>
                </a:solidFill>
                <a:latin typeface="Inter"/>
              </a:rPr>
              <a:t>—  </a:t>
            </a:r>
            <a:r>
              <a:rPr sz="1500">
                <a:solidFill>
                  <a:srgbClr val="1E293B"/>
                </a:solidFill>
                <a:latin typeface="Inter"/>
              </a:rPr>
              <a:t>Evals = golden-question suite: run the agent on standard questions, LLM-judge scores 0–5 by rubric.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00" b="1">
                <a:solidFill>
                  <a:srgbClr val="DE5916"/>
                </a:solidFill>
                <a:latin typeface="Inter"/>
              </a:rPr>
              <a:t>—  </a:t>
            </a:r>
            <a:r>
              <a:rPr sz="1500">
                <a:solidFill>
                  <a:srgbClr val="1E293B"/>
                </a:solidFill>
                <a:latin typeface="Inter"/>
              </a:rPr>
              <a:t>Baseline merge gate: pass rate ≥70% &amp; avg score ≥3.5 — below it, no merge.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00" b="1">
                <a:solidFill>
                  <a:srgbClr val="DE5916"/>
                </a:solidFill>
                <a:latin typeface="Inter"/>
              </a:rPr>
              <a:t>—  </a:t>
            </a:r>
            <a:r>
              <a:rPr sz="1500">
                <a:solidFill>
                  <a:srgbClr val="1E293B"/>
                </a:solidFill>
                <a:latin typeface="Inter"/>
              </a:rPr>
              <a:t>Citations are provenance: buildCitations() returns only sections the agent ACTUALLY read — can't be faked.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00" b="1">
                <a:solidFill>
                  <a:srgbClr val="DE5916"/>
                </a:solidFill>
                <a:latin typeface="Inter"/>
              </a:rPr>
              <a:t>—  </a:t>
            </a:r>
            <a:r>
              <a:rPr sz="1500">
                <a:solidFill>
                  <a:srgbClr val="1E293B"/>
                </a:solidFill>
                <a:latin typeface="Inter"/>
              </a:rPr>
              <a:t>Output guardrail: require ≥1 citation, or state the corpus doesn't cover it; fail → regenerate once.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00" b="1">
                <a:solidFill>
                  <a:srgbClr val="DE5916"/>
                </a:solidFill>
                <a:latin typeface="Inter"/>
              </a:rPr>
              <a:t>—  </a:t>
            </a:r>
            <a:r>
              <a:rPr sz="1500">
                <a:solidFill>
                  <a:srgbClr val="1E293B"/>
                </a:solidFill>
                <a:latin typeface="Inter"/>
              </a:rPr>
              <a:t>Trace summary = mini-eval: accessedDocs, toolCalls, citationCount, latency, status, regenerated → score the trajectory.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2286000"/>
            <a:ext cx="4206240" cy="35661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0" y="2286000"/>
            <a:ext cx="64008" cy="3566160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16368" y="2414016"/>
            <a:ext cx="3840480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ED7220"/>
                </a:solidFill>
                <a:latin typeface="JetBrains Mono"/>
              </a:rPr>
              <a:t>B7 EVAL GATE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for q in GOLDEN_QUESTIONS: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  ans  = run(agent, q)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  judge = llmJudge(ans, rubric) # 0–5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  ok = judge.pass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     and hasCitation(ans)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     and matchesExpectedDoc(ans)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──────────────────────────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BASELINE = { passRate ≥ 0.70,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             avgScore ≥ 3.5 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2468880"/>
            <a:ext cx="2194560" cy="128016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6974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5600" b="1">
                <a:solidFill>
                  <a:srgbClr val="FFFFFF"/>
                </a:solidFill>
                <a:latin typeface="Inter"/>
              </a:rPr>
              <a:t>LIVE DEMO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64748B"/>
                </a:solidFill>
                <a:latin typeface="Inter"/>
              </a:rPr>
              <a:t>Theory, now for real — two harnesses built with Claude Code.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Inter"/>
              </a:rPr>
              <a:t>Demo 1 — Assistant: Harness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>
                <a:solidFill>
                  <a:srgbClr val="B84314"/>
                </a:solidFill>
                <a:latin typeface="Inter"/>
              </a:rPr>
              <a:t>A question flows through the harness layers into a cited answer.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423160"/>
            <a:ext cx="1883664" cy="18288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2423160"/>
            <a:ext cx="1883664" cy="91440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6384" y="2624328"/>
            <a:ext cx="1609344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ED7220"/>
                </a:solidFill>
                <a:latin typeface="Inter"/>
              </a:rPr>
              <a:t>QUESTION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1450" b="1">
                <a:solidFill>
                  <a:srgbClr val="0F172A"/>
                </a:solidFill>
                <a:latin typeface="Inter"/>
              </a:rPr>
              <a:t>User asks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>
                <a:solidFill>
                  <a:srgbClr val="475569"/>
                </a:solidFill>
                <a:latin typeface="Inter"/>
              </a:rPr>
              <a:t>in academy / widget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42032" y="3145536"/>
            <a:ext cx="310896" cy="384048"/>
          </a:xfrm>
          <a:prstGeom prst="rightArrow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898648" y="2423160"/>
            <a:ext cx="1883664" cy="18288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898648" y="2423160"/>
            <a:ext cx="1883664" cy="91440"/>
          </a:xfrm>
          <a:prstGeom prst="rect">
            <a:avLst/>
          </a:prstGeom>
          <a:solidFill>
            <a:srgbClr val="DE59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44952" y="2624328"/>
            <a:ext cx="1609344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DE5916"/>
                </a:solidFill>
                <a:latin typeface="Inter"/>
              </a:rPr>
              <a:t>INPUT GUARDRAIL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1450" b="1">
                <a:solidFill>
                  <a:srgbClr val="0F172A"/>
                </a:solidFill>
                <a:latin typeface="Inter"/>
              </a:rPr>
              <a:t>Block early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>
                <a:solidFill>
                  <a:srgbClr val="475569"/>
                </a:solidFill>
                <a:latin typeface="Inter"/>
              </a:rPr>
              <a:t>off-corpus · injection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800600" y="3145536"/>
            <a:ext cx="310896" cy="384048"/>
          </a:xfrm>
          <a:prstGeom prst="rightArrow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157216" y="2423160"/>
            <a:ext cx="1883664" cy="18288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157216" y="2423160"/>
            <a:ext cx="1883664" cy="91440"/>
          </a:xfrm>
          <a:prstGeom prst="rect">
            <a:avLst/>
          </a:prstGeom>
          <a:solidFill>
            <a:srgbClr val="B843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03520" y="2624328"/>
            <a:ext cx="1609344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B84314"/>
                </a:solidFill>
                <a:latin typeface="Inter"/>
              </a:rPr>
              <a:t>ORCHESTRATOR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1450" b="1">
                <a:solidFill>
                  <a:srgbClr val="0F172A"/>
                </a:solidFill>
                <a:latin typeface="Inter"/>
              </a:rPr>
              <a:t>Holds the goal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>
                <a:solidFill>
                  <a:srgbClr val="475569"/>
                </a:solidFill>
                <a:latin typeface="Inter"/>
              </a:rPr>
              <a:t>dispatches each step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059168" y="3145536"/>
            <a:ext cx="310896" cy="384048"/>
          </a:xfrm>
          <a:prstGeom prst="rightArrow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415783" y="2423160"/>
            <a:ext cx="1883664" cy="18288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415783" y="2423160"/>
            <a:ext cx="1883664" cy="91440"/>
          </a:xfrm>
          <a:prstGeom prst="rect">
            <a:avLst/>
          </a:prstGeom>
          <a:solidFill>
            <a:srgbClr val="DE59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62087" y="2624328"/>
            <a:ext cx="1609344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DE5916"/>
                </a:solidFill>
                <a:latin typeface="Inter"/>
              </a:rPr>
              <a:t>DOC LOOKUP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1450" b="1">
                <a:solidFill>
                  <a:srgbClr val="0F172A"/>
                </a:solidFill>
                <a:latin typeface="Inter"/>
              </a:rPr>
              <a:t>Corpus only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>
                <a:solidFill>
                  <a:srgbClr val="475569"/>
                </a:solidFill>
                <a:latin typeface="Inter"/>
              </a:rPr>
              <a:t>search → read right section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317736" y="3145536"/>
            <a:ext cx="310896" cy="384048"/>
          </a:xfrm>
          <a:prstGeom prst="rightArrow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674352" y="2423160"/>
            <a:ext cx="1883664" cy="18288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674352" y="2423160"/>
            <a:ext cx="1883664" cy="91440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820656" y="2624328"/>
            <a:ext cx="1609344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ED7220"/>
                </a:solidFill>
                <a:latin typeface="Inter"/>
              </a:rPr>
              <a:t>ANSWER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1450" b="1">
                <a:solidFill>
                  <a:srgbClr val="0F172A"/>
                </a:solidFill>
                <a:latin typeface="Inter"/>
              </a:rPr>
              <a:t>With citations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>
                <a:solidFill>
                  <a:srgbClr val="475569"/>
                </a:solidFill>
                <a:latin typeface="Inter"/>
              </a:rPr>
              <a:t>output guardrail enforces sources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5720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DE5916"/>
                </a:solidFill>
                <a:latin typeface="Inter"/>
              </a:rPr>
              <a:t>Across every turn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937760"/>
            <a:ext cx="5349240" cy="105156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0080" y="4937760"/>
            <a:ext cx="91440" cy="105156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5074920"/>
            <a:ext cx="50292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F172A"/>
                </a:solidFill>
                <a:latin typeface="Inter"/>
              </a:rPr>
              <a:t>State &amp; conversation history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Inter"/>
              </a:rPr>
              <a:t>Postgres stores conversations + feedback → resume across sessions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08776" y="4937760"/>
            <a:ext cx="5349240" cy="105156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08776" y="4937760"/>
            <a:ext cx="91440" cy="1051560"/>
          </a:xfrm>
          <a:prstGeom prst="rect">
            <a:avLst/>
          </a:prstGeom>
          <a:solidFill>
            <a:srgbClr val="762E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37376" y="5074920"/>
            <a:ext cx="50292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F172A"/>
                </a:solidFill>
                <a:latin typeface="Inter"/>
              </a:rPr>
              <a:t>Observability — trace per turn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Inter"/>
              </a:rPr>
              <a:t>logs: docs read · steps · latency · status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111915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dirty="0">
                <a:solidFill>
                  <a:srgbClr val="0F172A"/>
                </a:solidFill>
                <a:latin typeface="Inter"/>
              </a:rPr>
              <a:t>Demo 2 — Harness Template: </a:t>
            </a:r>
            <a:r>
              <a:rPr lang="en-US" sz="3000" b="1" dirty="0">
                <a:solidFill>
                  <a:srgbClr val="0F172A"/>
                </a:solidFill>
                <a:latin typeface="Inter"/>
              </a:rPr>
              <a:t>Automation Test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endParaRPr sz="3000" b="1" dirty="0">
              <a:solidFill>
                <a:srgbClr val="0F172A"/>
              </a:solidFill>
              <a:latin typeface="Inte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>
                <a:solidFill>
                  <a:srgbClr val="B84314"/>
                </a:solidFill>
                <a:latin typeface="Inter"/>
              </a:rPr>
              <a:t>Each phase is governed by a harness component — control-plane files, not advice.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1883664" cy="12344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1883664" cy="9144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6384" y="2532888"/>
            <a:ext cx="1609344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475569"/>
                </a:solidFill>
                <a:latin typeface="Inter"/>
              </a:rPr>
              <a:t>1 · INTAKE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1450" b="1">
                <a:solidFill>
                  <a:srgbClr val="0F172A"/>
                </a:solidFill>
                <a:latin typeface="Inter"/>
              </a:rPr>
              <a:t>Classify risk lane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94760"/>
            <a:ext cx="1883664" cy="1874519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3794760"/>
            <a:ext cx="64008" cy="1874519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941064"/>
            <a:ext cx="1572768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 b="1">
                <a:solidFill>
                  <a:srgbClr val="475569"/>
                </a:solidFill>
                <a:latin typeface="JetBrains Mono"/>
              </a:rPr>
              <a:t>STATE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1300" b="1">
                <a:solidFill>
                  <a:srgbClr val="F1F5F9"/>
                </a:solidFill>
                <a:latin typeface="JetBrains Mono"/>
              </a:rPr>
              <a:t>.harness/records.jsonl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Inter"/>
              </a:rPr>
              <a:t>logs type · summary · lane · status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542032" y="2775203"/>
            <a:ext cx="310896" cy="347472"/>
          </a:xfrm>
          <a:prstGeom prst="rightArrow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898648" y="2331720"/>
            <a:ext cx="1883664" cy="12344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898648" y="2331720"/>
            <a:ext cx="1883664" cy="91440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44952" y="2532888"/>
            <a:ext cx="1609344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050" b="1" dirty="0">
                <a:solidFill>
                  <a:srgbClr val="ED7220"/>
                </a:solidFill>
                <a:latin typeface="Inter"/>
              </a:rPr>
              <a:t>2 · CONTEXT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1450" b="1" dirty="0">
                <a:solidFill>
                  <a:srgbClr val="0F172A"/>
                </a:solidFill>
                <a:latin typeface="Inter"/>
              </a:rPr>
              <a:t>Load the right docs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98648" y="3794760"/>
            <a:ext cx="1883664" cy="1874519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898648" y="3794760"/>
            <a:ext cx="64008" cy="1874519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081528" y="3941064"/>
            <a:ext cx="1572768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 b="1">
                <a:solidFill>
                  <a:srgbClr val="ED7220"/>
                </a:solidFill>
                <a:latin typeface="JetBrains Mono"/>
              </a:rPr>
              <a:t>INSTRUCTION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1300" b="1">
                <a:solidFill>
                  <a:srgbClr val="F1F5F9"/>
                </a:solidFill>
                <a:latin typeface="JetBrains Mono"/>
              </a:rPr>
              <a:t>CONTEXT_RULES.md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Inter"/>
              </a:rPr>
              <a:t>Normal lane = docs + spec + fixtures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800600" y="2775203"/>
            <a:ext cx="310896" cy="347472"/>
          </a:xfrm>
          <a:prstGeom prst="rightArrow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157216" y="2331720"/>
            <a:ext cx="1883664" cy="12344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157216" y="2331720"/>
            <a:ext cx="1883664" cy="91440"/>
          </a:xfrm>
          <a:prstGeom prst="rect">
            <a:avLst/>
          </a:prstGeom>
          <a:solidFill>
            <a:srgbClr val="DE59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03520" y="2532888"/>
            <a:ext cx="1609344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050" b="1" dirty="0">
                <a:solidFill>
                  <a:srgbClr val="DE5916"/>
                </a:solidFill>
                <a:latin typeface="Inter"/>
              </a:rPr>
              <a:t>3 · GENERATE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1450" b="1" dirty="0">
                <a:solidFill>
                  <a:srgbClr val="0F172A"/>
                </a:solidFill>
                <a:latin typeface="Inter"/>
              </a:rPr>
              <a:t>Make tests from scenario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57216" y="3794760"/>
            <a:ext cx="1883664" cy="1874519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157216" y="3794760"/>
            <a:ext cx="64008" cy="1874519"/>
          </a:xfrm>
          <a:prstGeom prst="rect">
            <a:avLst/>
          </a:prstGeom>
          <a:solidFill>
            <a:srgbClr val="DE59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40096" y="3941064"/>
            <a:ext cx="1572768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 b="1">
                <a:solidFill>
                  <a:srgbClr val="DE5916"/>
                </a:solidFill>
                <a:latin typeface="JetBrains Mono"/>
              </a:rPr>
              <a:t>TOOL POLICY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1300" b="1">
                <a:solidFill>
                  <a:srgbClr val="F1F5F9"/>
                </a:solidFill>
                <a:latin typeface="JetBrains Mono"/>
              </a:rPr>
              <a:t>subagent test-generator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Inter"/>
              </a:rPr>
              <a:t>no shell · stop = approved scenario only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059168" y="2775203"/>
            <a:ext cx="310896" cy="347472"/>
          </a:xfrm>
          <a:prstGeom prst="rightArrow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415783" y="2331720"/>
            <a:ext cx="1883664" cy="12344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415783" y="2331720"/>
            <a:ext cx="1883664" cy="91440"/>
          </a:xfrm>
          <a:prstGeom prst="rect">
            <a:avLst/>
          </a:prstGeom>
          <a:solidFill>
            <a:srgbClr val="B843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62087" y="2532888"/>
            <a:ext cx="1609344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B84314"/>
                </a:solidFill>
                <a:latin typeface="Inter"/>
              </a:rPr>
              <a:t>4 · REVIEW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1450" b="1">
                <a:solidFill>
                  <a:srgbClr val="0F172A"/>
                </a:solidFill>
                <a:latin typeface="Inter"/>
              </a:rPr>
              <a:t>Approve before accept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15783" y="3794760"/>
            <a:ext cx="1883664" cy="1874519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415783" y="3794760"/>
            <a:ext cx="64008" cy="1874519"/>
          </a:xfrm>
          <a:prstGeom prst="rect">
            <a:avLst/>
          </a:prstGeom>
          <a:solidFill>
            <a:srgbClr val="B843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598663" y="3941064"/>
            <a:ext cx="1572768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 b="1">
                <a:solidFill>
                  <a:srgbClr val="B84314"/>
                </a:solidFill>
                <a:latin typeface="JetBrains Mono"/>
              </a:rPr>
              <a:t>GUARDRAIL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1300" b="1">
                <a:solidFill>
                  <a:srgbClr val="F1F5F9"/>
                </a:solidFill>
                <a:latin typeface="JetBrains Mono"/>
              </a:rPr>
              <a:t>REVIEW_CHECKLIST.md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Inter"/>
              </a:rPr>
              <a:t>no sleep · no weak assertion · no skip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317736" y="2775203"/>
            <a:ext cx="310896" cy="347472"/>
          </a:xfrm>
          <a:prstGeom prst="rightArrow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674352" y="2331720"/>
            <a:ext cx="1883664" cy="12344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674352" y="2331720"/>
            <a:ext cx="1883664" cy="91440"/>
          </a:xfrm>
          <a:prstGeom prst="rect">
            <a:avLst/>
          </a:prstGeom>
          <a:solidFill>
            <a:srgbClr val="762E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820656" y="2532888"/>
            <a:ext cx="1609344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762E16"/>
                </a:solidFill>
                <a:latin typeface="Inter"/>
              </a:rPr>
              <a:t>5 · RUN &amp; TRACE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1450" b="1">
                <a:solidFill>
                  <a:srgbClr val="0F172A"/>
                </a:solidFill>
                <a:latin typeface="Inter"/>
              </a:rPr>
              <a:t>Run + record result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74352" y="3794760"/>
            <a:ext cx="1883664" cy="1874519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674352" y="3794760"/>
            <a:ext cx="64008" cy="1874519"/>
          </a:xfrm>
          <a:prstGeom prst="rect">
            <a:avLst/>
          </a:prstGeom>
          <a:solidFill>
            <a:srgbClr val="762E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857232" y="3941064"/>
            <a:ext cx="1572768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 b="1">
                <a:solidFill>
                  <a:srgbClr val="762E16"/>
                </a:solidFill>
                <a:latin typeface="JetBrains Mono"/>
              </a:rPr>
              <a:t>FEEDBACK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1300" b="1">
                <a:solidFill>
                  <a:srgbClr val="F1F5F9"/>
                </a:solidFill>
                <a:latin typeface="JetBrains Mono"/>
              </a:rPr>
              <a:t>Playwright trace + records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Inter"/>
              </a:rPr>
              <a:t>outcome: completed / failed / blocked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574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dirty="0">
                <a:solidFill>
                  <a:srgbClr val="0F172A"/>
                </a:solidFill>
                <a:latin typeface="Inter"/>
              </a:rPr>
              <a:t>Tooling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dirty="0">
                <a:solidFill>
                  <a:srgbClr val="B84314"/>
                </a:solidFill>
                <a:latin typeface="Inter"/>
              </a:rPr>
              <a:t>Free Claude Code repos: lower cost, higher signal. Stack them — wins compound.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212848"/>
            <a:ext cx="3465576" cy="157276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2212848"/>
            <a:ext cx="3465576" cy="91440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2395728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B84314"/>
                </a:solidFill>
                <a:latin typeface="JetBrains Mono"/>
              </a:rPr>
              <a:t>vercel-labs/agent-browser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871215"/>
            <a:ext cx="3154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dirty="0">
                <a:solidFill>
                  <a:srgbClr val="475569"/>
                </a:solidFill>
                <a:latin typeface="Inter"/>
              </a:rPr>
              <a:t>Drives Chrome via the accessibility tree — no screenshots, no HTML dump.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3493008"/>
            <a:ext cx="3154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DE5916"/>
                </a:solidFill>
                <a:latin typeface="Inter"/>
              </a:rPr>
              <a:t>▸ ~82% fewer tokens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0832" y="2212848"/>
            <a:ext cx="3465576" cy="157276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70832" y="2212848"/>
            <a:ext cx="3465576" cy="91440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35424" y="2395728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dirty="0" err="1">
                <a:solidFill>
                  <a:srgbClr val="B84314"/>
                </a:solidFill>
                <a:latin typeface="JetBrains Mono"/>
              </a:rPr>
              <a:t>rtk</a:t>
            </a:r>
            <a:r>
              <a:rPr sz="1250" b="1" dirty="0">
                <a:solidFill>
                  <a:srgbClr val="B84314"/>
                </a:solidFill>
                <a:latin typeface="JetBrains Mono"/>
              </a:rPr>
              <a:t>-ai/</a:t>
            </a:r>
            <a:r>
              <a:rPr sz="1250" b="1" dirty="0" err="1">
                <a:solidFill>
                  <a:srgbClr val="B84314"/>
                </a:solidFill>
                <a:latin typeface="JetBrains Mono"/>
              </a:rPr>
              <a:t>rtk</a:t>
            </a:r>
            <a:endParaRPr sz="1250" b="1" dirty="0">
              <a:solidFill>
                <a:srgbClr val="B84314"/>
              </a:solidFill>
              <a:latin typeface="JetBrains Mono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35424" y="2871215"/>
            <a:ext cx="3154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dirty="0">
                <a:solidFill>
                  <a:srgbClr val="475569"/>
                </a:solidFill>
                <a:latin typeface="Inter"/>
              </a:rPr>
              <a:t>Compresses common dev-command output (build, test, git).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3493008"/>
            <a:ext cx="3154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DE5916"/>
                </a:solidFill>
                <a:latin typeface="Inter"/>
              </a:rPr>
              <a:t>▸ 20–30% fewer (claim 60–90%)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01583" y="2212848"/>
            <a:ext cx="3465576" cy="157276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01583" y="2212848"/>
            <a:ext cx="3465576" cy="91440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66175" y="2395728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B84314"/>
                </a:solidFill>
                <a:latin typeface="JetBrains Mono"/>
              </a:rPr>
              <a:t>juliusbrussee/caveman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5" y="2871215"/>
            <a:ext cx="3154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475569"/>
                </a:solidFill>
                <a:latin typeface="Inter"/>
              </a:rPr>
              <a:t>Terse-output skill — strips conversational filler from replies.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5" y="3493008"/>
            <a:ext cx="3154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DE5916"/>
                </a:solidFill>
                <a:latin typeface="Inter"/>
              </a:rPr>
              <a:t>▸ leaner responses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913631"/>
            <a:ext cx="3465576" cy="157276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3913631"/>
            <a:ext cx="3465576" cy="91440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4671" y="4096511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B84314"/>
                </a:solidFill>
                <a:latin typeface="JetBrains Mono"/>
              </a:rPr>
              <a:t>tirth8205/code-review-graph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" y="4571999"/>
            <a:ext cx="3154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475569"/>
                </a:solidFill>
                <a:latin typeface="Inter"/>
              </a:rPr>
              <a:t>AST/graph map of the code for review instead of raw files.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1" y="5193792"/>
            <a:ext cx="3154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DE5916"/>
                </a:solidFill>
                <a:latin typeface="Inter"/>
              </a:rPr>
              <a:t>▸ up to 49× fewer tokens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70832" y="3913631"/>
            <a:ext cx="3465576" cy="157276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70832" y="3913631"/>
            <a:ext cx="3465576" cy="91440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35424" y="4096511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B84314"/>
                </a:solidFill>
                <a:latin typeface="JetBrains Mono"/>
              </a:rPr>
              <a:t>Gronsten/claude-usage-monitor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35424" y="4571999"/>
            <a:ext cx="3154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475569"/>
                </a:solidFill>
                <a:latin typeface="Inter"/>
              </a:rPr>
              <a:t>Real-time 5-hour window + active-session token meter.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35424" y="5193792"/>
            <a:ext cx="3154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DE5916"/>
                </a:solidFill>
                <a:latin typeface="Inter"/>
              </a:rPr>
              <a:t>▸ stay under the cap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01583" y="3913631"/>
            <a:ext cx="3465576" cy="157276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101583" y="3913631"/>
            <a:ext cx="3465576" cy="91440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66175" y="4096511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B84314"/>
                </a:solidFill>
                <a:latin typeface="JetBrains Mono"/>
              </a:rPr>
              <a:t>phuryn/claude-usage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66175" y="4571999"/>
            <a:ext cx="3154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475569"/>
                </a:solidFill>
                <a:latin typeface="Inter"/>
              </a:rPr>
              <a:t>Historical spend by session / day / week — see where tokens go.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66175" y="5193792"/>
            <a:ext cx="3154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dirty="0">
                <a:solidFill>
                  <a:srgbClr val="DE5916"/>
                </a:solidFill>
                <a:latin typeface="Inter"/>
              </a:rPr>
              <a:t>▸ find what to fix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5742432"/>
            <a:ext cx="10927080" cy="5486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40080" y="5742432"/>
            <a:ext cx="91440" cy="548640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68680" y="5742432"/>
            <a:ext cx="10607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ED7220"/>
                </a:solidFill>
                <a:latin typeface="JetBrains Mono"/>
              </a:rPr>
              <a:t>Orchestrate (bundle skills · subagents · hooks):  </a:t>
            </a:r>
            <a:r>
              <a:rPr sz="1250" b="1">
                <a:solidFill>
                  <a:srgbClr val="F1F5F9"/>
                </a:solidFill>
                <a:latin typeface="JetBrains Mono"/>
              </a:rPr>
              <a:t>superpowers  ·  everything-claude-code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Inter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800" b="1">
                <a:solidFill>
                  <a:srgbClr val="DE5916"/>
                </a:solidFill>
                <a:latin typeface="Inter"/>
              </a:rPr>
              <a:t>—  </a:t>
            </a:r>
            <a:r>
              <a:rPr sz="1800">
                <a:solidFill>
                  <a:srgbClr val="E2E8F0"/>
                </a:solidFill>
                <a:latin typeface="Inter"/>
              </a:rPr>
              <a:t>Model = reasoning. Harness = discipline + observable execution. Failures usually live in the harness, not the model.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800" b="1">
                <a:solidFill>
                  <a:srgbClr val="DE5916"/>
                </a:solidFill>
                <a:latin typeface="Inter"/>
              </a:rPr>
              <a:t>—  </a:t>
            </a:r>
            <a:r>
              <a:rPr sz="1800">
                <a:solidFill>
                  <a:srgbClr val="E2E8F0"/>
                </a:solidFill>
                <a:latin typeface="Inter"/>
              </a:rPr>
              <a:t>Context is a budget: progressive disclosure + repo as system of record + compaction-aware.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800" b="1">
                <a:solidFill>
                  <a:srgbClr val="DE5916"/>
                </a:solidFill>
                <a:latin typeface="Inter"/>
              </a:rPr>
              <a:t>—  </a:t>
            </a:r>
            <a:r>
              <a:rPr sz="1800">
                <a:solidFill>
                  <a:srgbClr val="E2E8F0"/>
                </a:solidFill>
                <a:latin typeface="Inter"/>
              </a:rPr>
              <a:t>Orchestrator holds summaries, sub-agents return summaries — context isolation = scale.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800" b="1">
                <a:solidFill>
                  <a:srgbClr val="DE5916"/>
                </a:solidFill>
                <a:latin typeface="Inter"/>
              </a:rPr>
              <a:t>—  </a:t>
            </a:r>
            <a:r>
              <a:rPr sz="1800">
                <a:solidFill>
                  <a:srgbClr val="E2E8F0"/>
                </a:solidFill>
                <a:latin typeface="Inter"/>
              </a:rPr>
              <a:t>Done = evidence (test/trace), not a promise. Guardrails live in the control plane.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800" b="1">
                <a:solidFill>
                  <a:srgbClr val="DE5916"/>
                </a:solidFill>
                <a:latin typeface="Inter"/>
              </a:rPr>
              <a:t>—  </a:t>
            </a:r>
            <a:r>
              <a:rPr sz="1800">
                <a:solidFill>
                  <a:srgbClr val="E2E8F0"/>
                </a:solidFill>
                <a:latin typeface="Inter"/>
              </a:rPr>
              <a:t>Provenance-based citations + golden-question evals = trust you can MEASURE.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D7220"/>
                </a:solidFill>
                <a:latin typeface="Inter"/>
              </a:rPr>
              <a:t>Claude Code is already a harness — your job is to operate it with discipline.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4800" b="1">
                <a:solidFill>
                  <a:srgbClr val="FFFFFF"/>
                </a:solidFill>
                <a:latin typeface="Inter"/>
              </a:rPr>
              <a:t>Thank You — Q&amp;A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E2E8F0"/>
                </a:solidFill>
                <a:latin typeface="Inter"/>
              </a:rPr>
              <a:t>AI Agent Harness: Architecture, Operations &amp; Building Agents with Claude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57200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ED7220"/>
                </a:solidFill>
                <a:latin typeface="JetBrains Mono"/>
              </a:rPr>
              <a:t>Docs:  AI-Agent-Harness.md  ·  academy/content/  ·  assistant/AGENTS.md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64748B"/>
                </a:solidFill>
                <a:latin typeface="JetBrains Mono"/>
              </a:rPr>
              <a:t>Sample harness:  templates/automation-test-harness-experimental/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3752</Words>
  <Application>Microsoft Office PowerPoint</Application>
  <PresentationFormat>Widescreen</PresentationFormat>
  <Paragraphs>243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Inter</vt:lpstr>
      <vt:lpstr>JetBrains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Binh Vu Tat</cp:lastModifiedBy>
  <cp:revision>3</cp:revision>
  <dcterms:created xsi:type="dcterms:W3CDTF">2013-01-27T09:14:16Z</dcterms:created>
  <dcterms:modified xsi:type="dcterms:W3CDTF">2026-06-02T09:12:37Z</dcterms:modified>
  <cp:category/>
</cp:coreProperties>
</file>